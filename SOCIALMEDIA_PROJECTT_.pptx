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9" r:id="rId7"/>
    <p:sldId id="261" r:id="rId8"/>
    <p:sldId id="262" r:id="rId9"/>
    <p:sldId id="263" r:id="rId10"/>
    <p:sldId id="270" r:id="rId11"/>
    <p:sldId id="264" r:id="rId12"/>
    <p:sldId id="271" r:id="rId13"/>
    <p:sldId id="265" r:id="rId14"/>
    <p:sldId id="272" r:id="rId15"/>
    <p:sldId id="266" r:id="rId16"/>
    <p:sldId id="26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col"/>
        <c:grouping val="stacked"/>
        <c:varyColors val="0"/>
        <c:ser>
          <c:idx val="0"/>
          <c:order val="0"/>
          <c:tx>
            <c:strRef>
              <c:f>Sheet1!$B$1</c:f>
              <c:strCache>
                <c:ptCount val="1"/>
                <c:pt idx="0">
                  <c:v>Likes</c:v>
                </c:pt>
              </c:strCache>
            </c:strRef>
          </c:tx>
          <c:spPr>
            <a:solidFill>
              <a:srgbClr val="2660C8"/>
            </a:solidFill>
            <a:effectLst/>
          </c:spPr>
          <c:invertIfNegative val="0"/>
          <c:cat>
            <c:strRef>
              <c:f>Sheet1!$A$2:$A$11</c:f>
              <c:strCache>
                <c:ptCount val="10"/>
                <c:pt idx="0">
                  <c:v>Keenan.S60</c:v>
                </c:pt>
                <c:pt idx="1">
                  <c:v>Karley_Bosco</c:v>
                </c:pt>
                <c:pt idx="2">
                  <c:v>Rick29</c:v>
                </c:pt>
                <c:pt idx="3">
                  <c:v>Josianne.F</c:v>
                </c:pt>
                <c:pt idx="4">
                  <c:v>Elenor88</c:v>
                </c:pt>
                <c:pt idx="5">
                  <c:v>Emilio.B52</c:v>
                </c:pt>
                <c:pt idx="6">
                  <c:v>Billy52</c:v>
                </c:pt>
                <c:pt idx="7">
                  <c:v>Andre_P85</c:v>
                </c:pt>
                <c:pt idx="8">
                  <c:v>Norbert.C35</c:v>
                </c:pt>
                <c:pt idx="9">
                  <c:v>Lennie.H40</c:v>
                </c:pt>
              </c:strCache>
            </c:strRef>
          </c:cat>
          <c:val>
            <c:numRef>
              <c:f>Sheet1!$B$2:$B$11</c:f>
              <c:numCache>
                <c:formatCode>General</c:formatCode>
                <c:ptCount val="10"/>
                <c:pt idx="0">
                  <c:v>98</c:v>
                </c:pt>
                <c:pt idx="1">
                  <c:v>97</c:v>
                </c:pt>
                <c:pt idx="2">
                  <c:v>92</c:v>
                </c:pt>
                <c:pt idx="3">
                  <c:v>94</c:v>
                </c:pt>
                <c:pt idx="4">
                  <c:v>83</c:v>
                </c:pt>
                <c:pt idx="5">
                  <c:v>86</c:v>
                </c:pt>
                <c:pt idx="6">
                  <c:v>84</c:v>
                </c:pt>
                <c:pt idx="7">
                  <c:v>94</c:v>
                </c:pt>
                <c:pt idx="8">
                  <c:v>78</c:v>
                </c:pt>
                <c:pt idx="9">
                  <c:v>92</c:v>
                </c:pt>
              </c:numCache>
            </c:numRef>
          </c:val>
        </c:ser>
        <c:ser>
          <c:idx val="1"/>
          <c:order val="1"/>
          <c:tx>
            <c:strRef>
              <c:f>Sheet1!$C$1</c:f>
              <c:strCache>
                <c:ptCount val="1"/>
                <c:pt idx="0">
                  <c:v>Comments</c:v>
                </c:pt>
              </c:strCache>
            </c:strRef>
          </c:tx>
          <c:spPr>
            <a:solidFill>
              <a:srgbClr val="F5A623"/>
            </a:solidFill>
            <a:effectLst/>
          </c:spPr>
          <c:invertIfNegative val="0"/>
          <c:cat>
            <c:strRef>
              <c:f>Sheet1!$A$2:$A$11</c:f>
              <c:strCache>
                <c:ptCount val="10"/>
                <c:pt idx="0">
                  <c:v>Keenan.S60</c:v>
                </c:pt>
                <c:pt idx="1">
                  <c:v>Karley_Bosco</c:v>
                </c:pt>
                <c:pt idx="2">
                  <c:v>Rick29</c:v>
                </c:pt>
                <c:pt idx="3">
                  <c:v>Josianne.F</c:v>
                </c:pt>
                <c:pt idx="4">
                  <c:v>Elenor88</c:v>
                </c:pt>
                <c:pt idx="5">
                  <c:v>Emilio.B52</c:v>
                </c:pt>
                <c:pt idx="6">
                  <c:v>Billy52</c:v>
                </c:pt>
                <c:pt idx="7">
                  <c:v>Andre_P85</c:v>
                </c:pt>
                <c:pt idx="8">
                  <c:v>Norbert.C35</c:v>
                </c:pt>
                <c:pt idx="9">
                  <c:v>Lennie.H40</c:v>
                </c:pt>
              </c:strCache>
            </c:strRef>
          </c:cat>
          <c:val>
            <c:numRef>
              <c:f>Sheet1!$C$2:$C$11</c:f>
              <c:numCache>
                <c:formatCode>General</c:formatCode>
                <c:ptCount val="10"/>
                <c:pt idx="0">
                  <c:v>75</c:v>
                </c:pt>
                <c:pt idx="1">
                  <c:v>69</c:v>
                </c:pt>
                <c:pt idx="2">
                  <c:v>74</c:v>
                </c:pt>
                <c:pt idx="3">
                  <c:v>69</c:v>
                </c:pt>
                <c:pt idx="4">
                  <c:v>80</c:v>
                </c:pt>
                <c:pt idx="5">
                  <c:v>76</c:v>
                </c:pt>
                <c:pt idx="6">
                  <c:v>77</c:v>
                </c:pt>
                <c:pt idx="7">
                  <c:v>66</c:v>
                </c:pt>
                <c:pt idx="8">
                  <c:v>83</c:v>
                </c:pt>
                <c:pt idx="9">
                  <c:v>67</c:v>
                </c:pt>
              </c:numCache>
            </c:numRef>
          </c:val>
        </c:ser>
        <c:dLbls>
          <c:showLegendKey val="0"/>
          <c:showVal val="0"/>
          <c:showCatName val="0"/>
          <c:showSerName val="0"/>
          <c:showPercent val="0"/>
          <c:showBubbleSize val="0"/>
        </c:dLbls>
        <c:gapWidth val="50"/>
        <c:overlap val="100"/>
        <c:axId val="1557926320"/>
        <c:axId val="1558625008"/>
      </c:barChart>
      <c:catAx>
        <c:axId val="155792632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A3A6B"/>
                </a:solidFill>
                <a:latin typeface="Arial"/>
              </a:defRPr>
            </a:pPr>
            <a:endParaRPr lang="en-US"/>
          </a:p>
        </c:txPr>
        <c:crossAx val="1558625008"/>
        <c:crosses val="autoZero"/>
        <c:auto val="1"/>
        <c:lblAlgn val="ctr"/>
        <c:lblOffset val="100"/>
        <c:noMultiLvlLbl val="1"/>
      </c:catAx>
      <c:valAx>
        <c:axId val="1558625008"/>
        <c:scaling>
          <c:orientation val="minMax"/>
        </c:scaling>
        <c:delete val="0"/>
        <c:axPos val="l"/>
        <c:majorGridlines>
          <c:spPr>
            <a:ln w="6350" cap="flat">
              <a:solidFill>
                <a:srgbClr val="D6E4F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A8A"/>
                </a:solidFill>
                <a:latin typeface="Arial"/>
              </a:defRPr>
            </a:pPr>
            <a:endParaRPr lang="en-US"/>
          </a:p>
        </c:txPr>
        <c:crossAx val="1557926320"/>
        <c:crosses val="autoZero"/>
        <c:crossBetween val="between"/>
      </c:valAx>
      <c:spPr>
        <a:noFill/>
        <a:ln>
          <a:noFill/>
        </a:ln>
        <a:effectLst/>
      </c:spPr>
    </c:plotArea>
    <c:legend>
      <c:legendPos val="r"/>
      <c:layout/>
      <c:overlay val="0"/>
      <c:txPr>
        <a:bodyPr/>
        <a:lstStyle/>
        <a:p>
          <a:pPr>
            <a:defRPr sz="900">
              <a:solidFill>
                <a:srgbClr val="1A1A2E"/>
              </a:solidFill>
            </a:defRPr>
          </a:pPr>
          <a:endParaRPr lang="en-US"/>
        </a:p>
      </c:txPr>
    </c:legend>
    <c:plotVisOnly val="1"/>
    <c:dispBlanksAs val="span"/>
    <c:showDLblsOverMax val="1"/>
  </c:chart>
  <c:spPr>
    <a:solidFill>
      <a:srgbClr val="F4F7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Users</c:v>
                </c:pt>
              </c:strCache>
            </c:strRef>
          </c:tx>
          <c:spPr>
            <a:solidFill>
              <a:srgbClr val="27AE60"/>
            </a:solidFill>
            <a:effectLst/>
          </c:spPr>
          <c:invertIfNegative val="0"/>
          <c:dPt>
            <c:idx val="0"/>
            <c:invertIfNegative val="0"/>
            <c:bubble3D val="0"/>
          </c:dPt>
          <c:dPt>
            <c:idx val="1"/>
            <c:invertIfNegative val="0"/>
            <c:bubble3D val="0"/>
            <c:spPr>
              <a:solidFill>
                <a:srgbClr val="2980B9"/>
              </a:solidFill>
              <a:effectLst/>
            </c:spPr>
          </c:dPt>
          <c:dPt>
            <c:idx val="2"/>
            <c:invertIfNegative val="0"/>
            <c:bubble3D val="0"/>
            <c:spPr>
              <a:solidFill>
                <a:srgbClr val="8E44AD"/>
              </a:solidFill>
              <a:effectLst/>
            </c:spPr>
          </c:dPt>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Highly
Engaged</c:v>
                </c:pt>
                <c:pt idx="1">
                  <c:v>Moderately
Engaged</c:v>
                </c:pt>
                <c:pt idx="2">
                  <c:v>Less
Engaged</c:v>
                </c:pt>
              </c:strCache>
            </c:strRef>
          </c:cat>
          <c:val>
            <c:numRef>
              <c:f>Sheet1!$B$2:$B$4</c:f>
              <c:numCache>
                <c:formatCode>General</c:formatCode>
                <c:ptCount val="3"/>
                <c:pt idx="0">
                  <c:v>43</c:v>
                </c:pt>
                <c:pt idx="1">
                  <c:v>34</c:v>
                </c:pt>
                <c:pt idx="2">
                  <c:v>23</c:v>
                </c:pt>
              </c:numCache>
            </c:numRef>
          </c:val>
        </c:ser>
        <c:dLbls>
          <c:showLegendKey val="0"/>
          <c:showVal val="1"/>
          <c:showCatName val="0"/>
          <c:showSerName val="0"/>
          <c:showPercent val="0"/>
          <c:showBubbleSize val="0"/>
        </c:dLbls>
        <c:gapWidth val="150"/>
        <c:axId val="1558626096"/>
        <c:axId val="1558633712"/>
      </c:barChart>
      <c:catAx>
        <c:axId val="1558626096"/>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D6E4FF"/>
                </a:solidFill>
                <a:latin typeface="Arial"/>
              </a:defRPr>
            </a:pPr>
            <a:endParaRPr lang="en-US"/>
          </a:p>
        </c:txPr>
        <c:crossAx val="1558633712"/>
        <c:crosses val="autoZero"/>
        <c:auto val="1"/>
        <c:lblAlgn val="ctr"/>
        <c:lblOffset val="100"/>
        <c:noMultiLvlLbl val="1"/>
      </c:catAx>
      <c:valAx>
        <c:axId val="1558633712"/>
        <c:scaling>
          <c:orientation val="minMax"/>
        </c:scaling>
        <c:delete val="0"/>
        <c:axPos val="b"/>
        <c:majorGridlines>
          <c:spPr>
            <a:ln w="5080" cap="flat">
              <a:solidFill>
                <a:srgbClr val="2660C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D6E4FF"/>
                </a:solidFill>
                <a:latin typeface="Arial"/>
              </a:defRPr>
            </a:pPr>
            <a:endParaRPr lang="en-US"/>
          </a:p>
        </c:txPr>
        <c:crossAx val="1558626096"/>
        <c:crosses val="autoZero"/>
        <c:crossBetween val="between"/>
      </c:valAx>
      <c:spPr>
        <a:noFill/>
        <a:ln>
          <a:noFill/>
        </a:ln>
        <a:effectLst/>
      </c:spPr>
    </c:plotArea>
    <c:plotVisOnly val="1"/>
    <c:dispBlanksAs val="span"/>
    <c:showDLblsOverMax val="1"/>
  </c:chart>
  <c:spPr>
    <a:solidFill>
      <a:srgbClr val="1A3A6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pieChart>
        <c:varyColors val="1"/>
        <c:ser>
          <c:idx val="0"/>
          <c:order val="0"/>
          <c:tx>
            <c:strRef>
              <c:f>Sheet1!$B$1</c:f>
              <c:strCache>
                <c:ptCount val="1"/>
                <c:pt idx="0">
                  <c:v>Users</c:v>
                </c:pt>
              </c:strCache>
            </c:strRef>
          </c:tx>
          <c:spPr>
            <a:solidFill>
              <a:schemeClr val="accent1"/>
            </a:solidFill>
            <a:ln w="9525" cap="flat">
              <a:solidFill>
                <a:srgbClr val="F9F9F9"/>
              </a:solidFill>
              <a:prstDash val="solid"/>
              <a:round/>
            </a:ln>
            <a:effectLst/>
          </c:spPr>
          <c:dPt>
            <c:idx val="0"/>
            <c:bubble3D val="0"/>
            <c:spPr>
              <a:solidFill>
                <a:srgbClr val="2660C8"/>
              </a:solidFill>
              <a:effectLst/>
            </c:spPr>
          </c:dPt>
          <c:dPt>
            <c:idx val="1"/>
            <c:bubble3D val="0"/>
            <c:spPr>
              <a:solidFill>
                <a:srgbClr val="27AE60"/>
              </a:solidFill>
              <a:effectLst/>
            </c:spPr>
          </c:dPt>
          <c:dLbls>
            <c:dLbl>
              <c:idx val="0"/>
              <c:layout/>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Lst>
            </c:dLbl>
            <c:dLbl>
              <c:idx val="1"/>
              <c:layout/>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Old Users
(pre-2017)</c:v>
                </c:pt>
                <c:pt idx="1">
                  <c:v>New Users
(2017+)</c:v>
                </c:pt>
              </c:strCache>
            </c:strRef>
          </c:cat>
          <c:val>
            <c:numRef>
              <c:f>Sheet1!$B$2:$B$3</c:f>
              <c:numCache>
                <c:formatCode>General</c:formatCode>
                <c:ptCount val="2"/>
                <c:pt idx="0">
                  <c:v>65</c:v>
                </c:pt>
                <c:pt idx="1">
                  <c:v>35</c:v>
                </c:pt>
              </c:numCache>
            </c:numRef>
          </c:val>
        </c:ser>
        <c:dLbls>
          <c:showLegendKey val="0"/>
          <c:showVal val="0"/>
          <c:showCatName val="0"/>
          <c:showSerName val="0"/>
          <c:showPercent val="0"/>
          <c:showBubbleSize val="0"/>
          <c:showLeaderLines val="0"/>
        </c:dLbls>
        <c:firstSliceAng val="0"/>
      </c:pieChart>
      <c:spPr>
        <a:noFill/>
        <a:ln>
          <a:noFill/>
        </a:ln>
        <a:effectLst/>
      </c:spPr>
    </c:plotArea>
    <c:legend>
      <c:legendPos val="r"/>
      <c:layout/>
      <c:overlay val="0"/>
      <c:txPr>
        <a:bodyPr/>
        <a:lstStyle/>
        <a:p>
          <a:pPr>
            <a:defRPr sz="900">
              <a:solidFill>
                <a:srgbClr val="D6E4FF"/>
              </a:solidFill>
            </a:defRPr>
          </a:pPr>
          <a:endParaRPr lang="en-US"/>
        </a:p>
      </c:txPr>
    </c:legend>
    <c:plotVisOnly val="1"/>
    <c:dispBlanksAs val="span"/>
    <c:showDLblsOverMax val="1"/>
  </c:chart>
  <c:spPr>
    <a:solidFill>
      <a:srgbClr val="1A3A6B"/>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Avg Likes</c:v>
                </c:pt>
              </c:strCache>
            </c:strRef>
          </c:tx>
          <c:spPr>
            <a:solidFill>
              <a:srgbClr val="2660C8"/>
            </a:solidFill>
            <a:effectLst/>
          </c:spPr>
          <c:invertIfNegative val="0"/>
          <c:dPt>
            <c:idx val="0"/>
            <c:invertIfNegative val="0"/>
            <c:bubble3D val="0"/>
          </c:dPt>
          <c:dPt>
            <c:idx val="1"/>
            <c:invertIfNegative val="0"/>
            <c:bubble3D val="0"/>
            <c:spPr>
              <a:solidFill>
                <a:srgbClr val="1E4FA0"/>
              </a:solidFill>
              <a:effectLst/>
            </c:spPr>
          </c:dPt>
          <c:dPt>
            <c:idx val="2"/>
            <c:invertIfNegative val="0"/>
            <c:bubble3D val="0"/>
          </c:dPt>
          <c:dPt>
            <c:idx val="3"/>
            <c:invertIfNegative val="0"/>
            <c:bubble3D val="0"/>
            <c:spPr>
              <a:solidFill>
                <a:srgbClr val="1E4FA0"/>
              </a:solidFill>
              <a:effectLst/>
            </c:spPr>
          </c:dPt>
          <c:dPt>
            <c:idx val="4"/>
            <c:invertIfNegative val="0"/>
            <c:bubble3D val="0"/>
          </c:dPt>
          <c:dPt>
            <c:idx val="5"/>
            <c:invertIfNegative val="0"/>
            <c:bubble3D val="0"/>
            <c:spPr>
              <a:solidFill>
                <a:srgbClr val="1E4FA0"/>
              </a:solidFill>
              <a:effectLst/>
            </c:spPr>
          </c:dPt>
          <c:dPt>
            <c:idx val="6"/>
            <c:invertIfNegative val="0"/>
            <c:bubble3D val="0"/>
          </c:dPt>
          <c:dPt>
            <c:idx val="7"/>
            <c:invertIfNegative val="0"/>
            <c:bubble3D val="0"/>
            <c:spPr>
              <a:solidFill>
                <a:srgbClr val="1E4FA0"/>
              </a:solidFill>
              <a:effectLst/>
            </c:spPr>
          </c:dPt>
          <c:dLbls>
            <c:numFmt formatCode="#,##0" sourceLinked="0"/>
            <c:spPr>
              <a:noFill/>
              <a:ln>
                <a:noFill/>
              </a:ln>
              <a:effectLst/>
            </c:spPr>
            <c:txPr>
              <a:bodyPr/>
              <a:lstStyle/>
              <a:p>
                <a:pPr>
                  <a:defRPr sz="900" b="0" i="0" u="none" strike="noStrike">
                    <a:solidFill>
                      <a:srgbClr val="1A3A6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dreamy</c:v>
                </c:pt>
                <c:pt idx="1">
                  <c:v>beauty</c:v>
                </c:pt>
                <c:pt idx="2">
                  <c:v>stunning</c:v>
                </c:pt>
                <c:pt idx="3">
                  <c:v>delicious</c:v>
                </c:pt>
                <c:pt idx="4">
                  <c:v>foodie</c:v>
                </c:pt>
                <c:pt idx="5">
                  <c:v>smile</c:v>
                </c:pt>
                <c:pt idx="6">
                  <c:v>beach</c:v>
                </c:pt>
                <c:pt idx="7">
                  <c:v>party</c:v>
                </c:pt>
              </c:strCache>
            </c:strRef>
          </c:cat>
          <c:val>
            <c:numRef>
              <c:f>Sheet1!$B$2:$B$9</c:f>
              <c:numCache>
                <c:formatCode>General</c:formatCode>
                <c:ptCount val="8"/>
                <c:pt idx="0">
                  <c:v>35.75</c:v>
                </c:pt>
                <c:pt idx="1">
                  <c:v>34.950000000000003</c:v>
                </c:pt>
                <c:pt idx="2">
                  <c:v>34.94</c:v>
                </c:pt>
                <c:pt idx="3">
                  <c:v>34.93</c:v>
                </c:pt>
                <c:pt idx="4">
                  <c:v>34.729999999999997</c:v>
                </c:pt>
                <c:pt idx="5">
                  <c:v>34.6</c:v>
                </c:pt>
                <c:pt idx="6">
                  <c:v>34.5</c:v>
                </c:pt>
                <c:pt idx="7">
                  <c:v>34.450000000000003</c:v>
                </c:pt>
              </c:numCache>
            </c:numRef>
          </c:val>
        </c:ser>
        <c:dLbls>
          <c:showLegendKey val="0"/>
          <c:showVal val="1"/>
          <c:showCatName val="0"/>
          <c:showSerName val="0"/>
          <c:showPercent val="0"/>
          <c:showBubbleSize val="0"/>
        </c:dLbls>
        <c:gapWidth val="150"/>
        <c:axId val="1558621200"/>
        <c:axId val="1558627184"/>
      </c:barChart>
      <c:catAx>
        <c:axId val="1558621200"/>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A3A6B"/>
                </a:solidFill>
                <a:latin typeface="Arial"/>
              </a:defRPr>
            </a:pPr>
            <a:endParaRPr lang="en-US"/>
          </a:p>
        </c:txPr>
        <c:crossAx val="1558627184"/>
        <c:crosses val="autoZero"/>
        <c:auto val="1"/>
        <c:lblAlgn val="ctr"/>
        <c:lblOffset val="100"/>
        <c:noMultiLvlLbl val="1"/>
      </c:catAx>
      <c:valAx>
        <c:axId val="1558627184"/>
        <c:scaling>
          <c:orientation val="minMax"/>
          <c:max val="36"/>
          <c:min val="34"/>
        </c:scaling>
        <c:delete val="0"/>
        <c:axPos val="b"/>
        <c:majorGridlines>
          <c:spPr>
            <a:ln w="5080" cap="flat">
              <a:solidFill>
                <a:srgbClr val="D6E4F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A6A8A"/>
                </a:solidFill>
                <a:latin typeface="Arial"/>
              </a:defRPr>
            </a:pPr>
            <a:endParaRPr lang="en-US"/>
          </a:p>
        </c:txPr>
        <c:crossAx val="1558621200"/>
        <c:crosses val="autoZero"/>
        <c:crossBetween val="between"/>
      </c:valAx>
      <c:spPr>
        <a:noFill/>
        <a:ln>
          <a:noFill/>
        </a:ln>
        <a:effectLst/>
      </c:spPr>
    </c:plotArea>
    <c:plotVisOnly val="1"/>
    <c:dispBlanksAs val="span"/>
    <c:showDLblsOverMax val="1"/>
  </c:chart>
  <c:spPr>
    <a:solidFill>
      <a:srgbClr val="F4F7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Avg Engagement Rate</c:v>
                </c:pt>
              </c:strCache>
            </c:strRef>
          </c:tx>
          <c:spPr>
            <a:solidFill>
              <a:srgbClr val="F5A623"/>
            </a:solidFill>
            <a:effectLst/>
          </c:spPr>
          <c:invertIfNegative val="0"/>
          <c:dPt>
            <c:idx val="0"/>
            <c:invertIfNegative val="0"/>
            <c:bubble3D val="0"/>
          </c:dPt>
          <c:dPt>
            <c:idx val="1"/>
            <c:invertIfNegative val="0"/>
            <c:bubble3D val="0"/>
            <c:spPr>
              <a:solidFill>
                <a:srgbClr val="2660C8"/>
              </a:solidFill>
              <a:effectLst/>
            </c:spPr>
          </c:dPt>
          <c:dPt>
            <c:idx val="2"/>
            <c:invertIfNegative val="0"/>
            <c:bubble3D val="0"/>
          </c:dPt>
          <c:dPt>
            <c:idx val="3"/>
            <c:invertIfNegative val="0"/>
            <c:bubble3D val="0"/>
            <c:spPr>
              <a:solidFill>
                <a:srgbClr val="2660C8"/>
              </a:solidFill>
              <a:effectLst/>
            </c:spPr>
          </c:dPt>
          <c:dPt>
            <c:idx val="4"/>
            <c:invertIfNegative val="0"/>
            <c:bubble3D val="0"/>
          </c:dPt>
          <c:dPt>
            <c:idx val="5"/>
            <c:invertIfNegative val="0"/>
            <c:bubble3D val="0"/>
            <c:spPr>
              <a:solidFill>
                <a:srgbClr val="2660C8"/>
              </a:solidFill>
              <a:effectLst/>
            </c:spPr>
          </c:dPt>
          <c:dPt>
            <c:idx val="6"/>
            <c:invertIfNegative val="0"/>
            <c:bubble3D val="0"/>
          </c:dPt>
          <c:dPt>
            <c:idx val="7"/>
            <c:invertIfNegative val="0"/>
            <c:bubble3D val="0"/>
            <c:spPr>
              <a:solidFill>
                <a:srgbClr val="2660C8"/>
              </a:solidFill>
              <a:effectLst/>
            </c:spPr>
          </c:dPt>
          <c:dPt>
            <c:idx val="8"/>
            <c:invertIfNegative val="0"/>
            <c:bubble3D val="0"/>
          </c:dPt>
          <c:dPt>
            <c:idx val="9"/>
            <c:invertIfNegative val="0"/>
            <c:bubble3D val="0"/>
            <c:spPr>
              <a:solidFill>
                <a:srgbClr val="2660C8"/>
              </a:solidFill>
              <a:effectLst/>
            </c:spPr>
          </c:dPt>
          <c:dLbls>
            <c:numFmt formatCode="#,##0" sourceLinked="0"/>
            <c:spPr>
              <a:noFill/>
              <a:ln>
                <a:noFill/>
              </a:ln>
              <a:effectLst/>
            </c:spPr>
            <c:txPr>
              <a:bodyPr/>
              <a:lstStyle/>
              <a:p>
                <a:pPr>
                  <a:defRPr sz="9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Karley_B</c:v>
                </c:pt>
                <c:pt idx="1">
                  <c:v>Kenneth64</c:v>
                </c:pt>
                <c:pt idx="2">
                  <c:v>Erick5</c:v>
                </c:pt>
                <c:pt idx="3">
                  <c:v>Kelsi26</c:v>
                </c:pt>
                <c:pt idx="4">
                  <c:v>Delpha.K</c:v>
                </c:pt>
                <c:pt idx="5">
                  <c:v>Aiyana.H</c:v>
                </c:pt>
                <c:pt idx="6">
                  <c:v>Rafael.H</c:v>
                </c:pt>
                <c:pt idx="7">
                  <c:v>Damon35</c:v>
                </c:pt>
                <c:pt idx="8">
                  <c:v>Peter.S</c:v>
                </c:pt>
                <c:pt idx="9">
                  <c:v>Jaylan.L</c:v>
                </c:pt>
              </c:strCache>
            </c:strRef>
          </c:cat>
          <c:val>
            <c:numRef>
              <c:f>Sheet1!$B$2:$B$11</c:f>
              <c:numCache>
                <c:formatCode>General</c:formatCode>
                <c:ptCount val="10"/>
                <c:pt idx="0">
                  <c:v>166</c:v>
                </c:pt>
                <c:pt idx="1">
                  <c:v>158</c:v>
                </c:pt>
                <c:pt idx="2">
                  <c:v>157</c:v>
                </c:pt>
                <c:pt idx="3">
                  <c:v>156</c:v>
                </c:pt>
                <c:pt idx="4">
                  <c:v>154</c:v>
                </c:pt>
                <c:pt idx="5">
                  <c:v>154</c:v>
                </c:pt>
                <c:pt idx="6">
                  <c:v>153</c:v>
                </c:pt>
                <c:pt idx="7">
                  <c:v>152</c:v>
                </c:pt>
                <c:pt idx="8">
                  <c:v>149</c:v>
                </c:pt>
                <c:pt idx="9">
                  <c:v>149</c:v>
                </c:pt>
              </c:numCache>
            </c:numRef>
          </c:val>
        </c:ser>
        <c:dLbls>
          <c:dLblPos val="inEnd"/>
          <c:showLegendKey val="0"/>
          <c:showVal val="1"/>
          <c:showCatName val="0"/>
          <c:showSerName val="0"/>
          <c:showPercent val="0"/>
          <c:showBubbleSize val="0"/>
        </c:dLbls>
        <c:gapWidth val="150"/>
        <c:axId val="1358410672"/>
        <c:axId val="1626336896"/>
      </c:barChart>
      <c:catAx>
        <c:axId val="1358410672"/>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D6E4FF"/>
                </a:solidFill>
                <a:latin typeface="Arial"/>
              </a:defRPr>
            </a:pPr>
            <a:endParaRPr lang="en-US"/>
          </a:p>
        </c:txPr>
        <c:crossAx val="1626336896"/>
        <c:crosses val="autoZero"/>
        <c:auto val="1"/>
        <c:lblAlgn val="ctr"/>
        <c:lblOffset val="100"/>
        <c:noMultiLvlLbl val="1"/>
      </c:catAx>
      <c:valAx>
        <c:axId val="1626336896"/>
        <c:scaling>
          <c:orientation val="minMax"/>
          <c:max val="170"/>
          <c:min val="140"/>
        </c:scaling>
        <c:delete val="0"/>
        <c:axPos val="b"/>
        <c:majorGridlines>
          <c:spPr>
            <a:ln w="5080" cap="flat">
              <a:solidFill>
                <a:srgbClr val="2660C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D6E4FF"/>
                </a:solidFill>
                <a:latin typeface="Arial"/>
              </a:defRPr>
            </a:pPr>
            <a:endParaRPr lang="en-US"/>
          </a:p>
        </c:txPr>
        <c:crossAx val="1358410672"/>
        <c:crosses val="autoZero"/>
        <c:crossBetween val="between"/>
      </c:valAx>
      <c:spPr>
        <a:noFill/>
        <a:ln>
          <a:noFill/>
        </a:ln>
        <a:effectLst/>
      </c:spPr>
    </c:plotArea>
    <c:plotVisOnly val="1"/>
    <c:dispBlanksAs val="span"/>
    <c:showDLblsOverMax val="1"/>
  </c:chart>
  <c:spPr>
    <a:solidFill>
      <a:srgbClr val="1A3A6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323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6e67c7d5b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6e67c7d5b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3560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8713017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457200" y="640080"/>
            <a:ext cx="1280160" cy="1280160"/>
          </a:xfrm>
          <a:prstGeom prst="ellipse">
            <a:avLst/>
          </a:prstGeom>
          <a:solidFill>
            <a:srgbClr val="2660C8"/>
          </a:solidFill>
          <a:ln w="25400">
            <a:solidFill>
              <a:srgbClr val="FFFFFF"/>
            </a:solidFill>
            <a:prstDash val="solid"/>
          </a:ln>
        </p:spPr>
      </p:sp>
      <p:sp>
        <p:nvSpPr>
          <p:cNvPr id="3" name="Text 1"/>
          <p:cNvSpPr/>
          <p:nvPr/>
        </p:nvSpPr>
        <p:spPr>
          <a:xfrm>
            <a:off x="457200" y="640080"/>
            <a:ext cx="1280160" cy="128016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ig</a:t>
            </a:r>
            <a:endParaRPr lang="en-US" sz="3600" dirty="0"/>
          </a:p>
        </p:txBody>
      </p:sp>
      <p:sp>
        <p:nvSpPr>
          <p:cNvPr id="4" name="Text 2"/>
          <p:cNvSpPr/>
          <p:nvPr/>
        </p:nvSpPr>
        <p:spPr>
          <a:xfrm>
            <a:off x="1920240" y="640080"/>
            <a:ext cx="6766560" cy="7772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Instagram Clone</a:t>
            </a:r>
            <a:endParaRPr lang="en-US" sz="4400" dirty="0"/>
          </a:p>
        </p:txBody>
      </p:sp>
      <p:sp>
        <p:nvSpPr>
          <p:cNvPr id="5" name="Text 3"/>
          <p:cNvSpPr/>
          <p:nvPr/>
        </p:nvSpPr>
        <p:spPr>
          <a:xfrm>
            <a:off x="1920240" y="1371600"/>
            <a:ext cx="6766560" cy="594360"/>
          </a:xfrm>
          <a:prstGeom prst="rect">
            <a:avLst/>
          </a:prstGeom>
          <a:noFill/>
          <a:ln/>
        </p:spPr>
        <p:txBody>
          <a:bodyPr wrap="square" rtlCol="0" anchor="ctr"/>
          <a:lstStyle/>
          <a:p>
            <a:pPr marL="0" indent="0">
              <a:buNone/>
            </a:pPr>
            <a:r>
              <a:rPr lang="en-US" sz="3600" dirty="0">
                <a:solidFill>
                  <a:srgbClr val="D6E4FF"/>
                </a:solidFill>
                <a:latin typeface="Cambria" pitchFamily="34" charset="0"/>
                <a:ea typeface="Cambria" pitchFamily="34" charset="-122"/>
                <a:cs typeface="Cambria" pitchFamily="34" charset="-120"/>
              </a:rPr>
              <a:t>SQL Project</a:t>
            </a:r>
            <a:endParaRPr lang="en-US" sz="3600" dirty="0"/>
          </a:p>
        </p:txBody>
      </p:sp>
      <p:sp>
        <p:nvSpPr>
          <p:cNvPr id="6" name="Shape 4"/>
          <p:cNvSpPr/>
          <p:nvPr/>
        </p:nvSpPr>
        <p:spPr>
          <a:xfrm>
            <a:off x="457200" y="2286000"/>
            <a:ext cx="8229600" cy="45720"/>
          </a:xfrm>
          <a:prstGeom prst="rect">
            <a:avLst/>
          </a:prstGeom>
          <a:solidFill>
            <a:srgbClr val="2660C8"/>
          </a:solidFill>
          <a:ln w="12700">
            <a:solidFill>
              <a:srgbClr val="2660C8"/>
            </a:solidFill>
            <a:prstDash val="solid"/>
          </a:ln>
        </p:spPr>
      </p:sp>
      <p:sp>
        <p:nvSpPr>
          <p:cNvPr id="7" name="Text 5"/>
          <p:cNvSpPr/>
          <p:nvPr/>
        </p:nvSpPr>
        <p:spPr>
          <a:xfrm>
            <a:off x="457200" y="2423160"/>
            <a:ext cx="8229600" cy="457200"/>
          </a:xfrm>
          <a:prstGeom prst="rect">
            <a:avLst/>
          </a:prstGeom>
          <a:noFill/>
          <a:ln/>
        </p:spPr>
        <p:txBody>
          <a:bodyPr wrap="square" rtlCol="0" anchor="ctr"/>
          <a:lstStyle/>
          <a:p>
            <a:pPr marL="0" indent="0" algn="ctr">
              <a:buNone/>
            </a:pPr>
            <a:r>
              <a:rPr lang="en-US" sz="1800" dirty="0">
                <a:solidFill>
                  <a:srgbClr val="D6E4FF"/>
                </a:solidFill>
                <a:latin typeface="Calibri" pitchFamily="34" charset="0"/>
                <a:ea typeface="Calibri" pitchFamily="34" charset="-122"/>
                <a:cs typeface="Calibri" pitchFamily="34" charset="-120"/>
              </a:rPr>
              <a:t>Data Analysis &amp; Marketing Strategy Report</a:t>
            </a:r>
            <a:endParaRPr lang="en-US" sz="1800" dirty="0"/>
          </a:p>
        </p:txBody>
      </p:sp>
      <p:sp>
        <p:nvSpPr>
          <p:cNvPr id="8" name="Shape 6"/>
          <p:cNvSpPr/>
          <p:nvPr/>
        </p:nvSpPr>
        <p:spPr>
          <a:xfrm>
            <a:off x="457200" y="3108960"/>
            <a:ext cx="2468880" cy="1463040"/>
          </a:xfrm>
          <a:prstGeom prst="roundRect">
            <a:avLst>
              <a:gd name="adj" fmla="val 6250"/>
            </a:avLst>
          </a:prstGeom>
          <a:solidFill>
            <a:srgbClr val="1E4FA0"/>
          </a:solidFill>
          <a:ln/>
          <a:effectLst>
            <a:outerShdw blurRad="101600" dist="38100" dir="2700000" algn="bl" rotWithShape="0">
              <a:srgbClr val="000000">
                <a:alpha val="12000"/>
              </a:srgbClr>
            </a:outerShdw>
          </a:effectLst>
        </p:spPr>
      </p:sp>
      <p:sp>
        <p:nvSpPr>
          <p:cNvPr id="9" name="Text 7"/>
          <p:cNvSpPr/>
          <p:nvPr/>
        </p:nvSpPr>
        <p:spPr>
          <a:xfrm>
            <a:off x="457200" y="3200400"/>
            <a:ext cx="2468880" cy="36576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Database</a:t>
            </a:r>
            <a:endParaRPr lang="en-US" sz="1100" dirty="0"/>
          </a:p>
        </p:txBody>
      </p:sp>
      <p:sp>
        <p:nvSpPr>
          <p:cNvPr id="10" name="Text 8"/>
          <p:cNvSpPr/>
          <p:nvPr/>
        </p:nvSpPr>
        <p:spPr>
          <a:xfrm>
            <a:off x="457200" y="3566160"/>
            <a:ext cx="246888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ig_clone</a:t>
            </a:r>
            <a:endParaRPr lang="en-US" sz="3000" dirty="0"/>
          </a:p>
        </p:txBody>
      </p:sp>
      <p:sp>
        <p:nvSpPr>
          <p:cNvPr id="11" name="Shape 9"/>
          <p:cNvSpPr/>
          <p:nvPr/>
        </p:nvSpPr>
        <p:spPr>
          <a:xfrm>
            <a:off x="3108960" y="3108960"/>
            <a:ext cx="2468880" cy="1463040"/>
          </a:xfrm>
          <a:prstGeom prst="roundRect">
            <a:avLst>
              <a:gd name="adj" fmla="val 6250"/>
            </a:avLst>
          </a:prstGeom>
          <a:solidFill>
            <a:srgbClr val="1E4FA0"/>
          </a:solidFill>
          <a:ln/>
          <a:effectLst>
            <a:outerShdw blurRad="101600" dist="38100" dir="2700000" algn="bl" rotWithShape="0">
              <a:srgbClr val="000000">
                <a:alpha val="12000"/>
              </a:srgbClr>
            </a:outerShdw>
          </a:effectLst>
        </p:spPr>
      </p:sp>
      <p:sp>
        <p:nvSpPr>
          <p:cNvPr id="12" name="Text 10"/>
          <p:cNvSpPr/>
          <p:nvPr/>
        </p:nvSpPr>
        <p:spPr>
          <a:xfrm>
            <a:off x="3108960" y="3200400"/>
            <a:ext cx="2468880" cy="36576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Total Users</a:t>
            </a:r>
            <a:endParaRPr lang="en-US" sz="1100" dirty="0"/>
          </a:p>
        </p:txBody>
      </p:sp>
      <p:sp>
        <p:nvSpPr>
          <p:cNvPr id="13" name="Text 11"/>
          <p:cNvSpPr/>
          <p:nvPr/>
        </p:nvSpPr>
        <p:spPr>
          <a:xfrm>
            <a:off x="3108960" y="3566160"/>
            <a:ext cx="246888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100</a:t>
            </a:r>
            <a:endParaRPr lang="en-US" sz="3000" dirty="0"/>
          </a:p>
        </p:txBody>
      </p:sp>
      <p:sp>
        <p:nvSpPr>
          <p:cNvPr id="14" name="Shape 12"/>
          <p:cNvSpPr/>
          <p:nvPr/>
        </p:nvSpPr>
        <p:spPr>
          <a:xfrm>
            <a:off x="5760720" y="3108960"/>
            <a:ext cx="2468880" cy="1463040"/>
          </a:xfrm>
          <a:prstGeom prst="roundRect">
            <a:avLst>
              <a:gd name="adj" fmla="val 6250"/>
            </a:avLst>
          </a:prstGeom>
          <a:solidFill>
            <a:srgbClr val="1E4FA0"/>
          </a:solidFill>
          <a:ln/>
          <a:effectLst>
            <a:outerShdw blurRad="101600" dist="38100" dir="2700000" algn="bl" rotWithShape="0">
              <a:srgbClr val="000000">
                <a:alpha val="12000"/>
              </a:srgbClr>
            </a:outerShdw>
          </a:effectLst>
        </p:spPr>
      </p:sp>
      <p:sp>
        <p:nvSpPr>
          <p:cNvPr id="15" name="Text 13"/>
          <p:cNvSpPr/>
          <p:nvPr/>
        </p:nvSpPr>
        <p:spPr>
          <a:xfrm>
            <a:off x="5760720" y="3200400"/>
            <a:ext cx="2468880" cy="36576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Total Posts</a:t>
            </a:r>
            <a:endParaRPr lang="en-US" sz="1100" dirty="0"/>
          </a:p>
        </p:txBody>
      </p:sp>
      <p:sp>
        <p:nvSpPr>
          <p:cNvPr id="16" name="Text 14"/>
          <p:cNvSpPr/>
          <p:nvPr/>
        </p:nvSpPr>
        <p:spPr>
          <a:xfrm>
            <a:off x="5760720" y="3566160"/>
            <a:ext cx="246888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257</a:t>
            </a:r>
            <a:endParaRPr lang="en-US" sz="3000" dirty="0"/>
          </a:p>
        </p:txBody>
      </p:sp>
      <p:sp>
        <p:nvSpPr>
          <p:cNvPr id="17" name="Text 15"/>
          <p:cNvSpPr/>
          <p:nvPr/>
        </p:nvSpPr>
        <p:spPr>
          <a:xfrm>
            <a:off x="457200" y="4709160"/>
            <a:ext cx="8229600" cy="274320"/>
          </a:xfrm>
          <a:prstGeom prst="rect">
            <a:avLst/>
          </a:prstGeom>
          <a:noFill/>
          <a:ln/>
        </p:spPr>
        <p:txBody>
          <a:bodyPr wrap="square" rtlCol="0" anchor="ctr"/>
          <a:lstStyle/>
          <a:p>
            <a:pPr marL="0" indent="0" algn="ctr">
              <a:buNone/>
            </a:pPr>
            <a:r>
              <a:rPr lang="en-US" sz="1100" dirty="0">
                <a:solidFill>
                  <a:srgbClr val="5A6A8A"/>
                </a:solidFill>
                <a:latin typeface="Calibri" pitchFamily="34" charset="0"/>
                <a:ea typeface="Calibri" pitchFamily="34" charset="-122"/>
                <a:cs typeface="Calibri" pitchFamily="34" charset="-120"/>
              </a:rPr>
              <a:t>By </a:t>
            </a:r>
            <a:r>
              <a:rPr lang="en-US" sz="1100" dirty="0" smtClean="0">
                <a:solidFill>
                  <a:srgbClr val="5A6A8A"/>
                </a:solidFill>
                <a:latin typeface="Calibri" pitchFamily="34" charset="0"/>
                <a:ea typeface="Calibri" pitchFamily="34" charset="-122"/>
                <a:cs typeface="Calibri" pitchFamily="34" charset="-120"/>
              </a:rPr>
              <a:t>JAYESH MALI </a:t>
            </a:r>
            <a:r>
              <a:rPr lang="en-US" sz="1100" dirty="0">
                <a:solidFill>
                  <a:srgbClr val="5A6A8A"/>
                </a:solidFill>
                <a:latin typeface="Calibri" pitchFamily="34" charset="0"/>
                <a:ea typeface="Calibri" pitchFamily="34" charset="-122"/>
                <a:cs typeface="Calibri" pitchFamily="34" charset="-120"/>
              </a:rPr>
              <a:t>|  DS </a:t>
            </a:r>
            <a:r>
              <a:rPr lang="en-US" sz="1100" dirty="0" smtClean="0">
                <a:solidFill>
                  <a:srgbClr val="5A6A8A"/>
                </a:solidFill>
                <a:latin typeface="Calibri" pitchFamily="34" charset="0"/>
                <a:ea typeface="Calibri" pitchFamily="34" charset="-122"/>
                <a:cs typeface="Calibri" pitchFamily="34" charset="-120"/>
              </a:rPr>
              <a:t>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Table of Contents</a:t>
            </a:r>
            <a:endParaRPr lang="en-US" sz="3000" dirty="0"/>
          </a:p>
        </p:txBody>
      </p:sp>
      <p:sp>
        <p:nvSpPr>
          <p:cNvPr id="4" name="Shape 2"/>
          <p:cNvSpPr/>
          <p:nvPr/>
        </p:nvSpPr>
        <p:spPr>
          <a:xfrm>
            <a:off x="365760" y="1188720"/>
            <a:ext cx="502920" cy="502920"/>
          </a:xfrm>
          <a:prstGeom prst="roundRect">
            <a:avLst>
              <a:gd name="adj" fmla="val 14545"/>
            </a:avLst>
          </a:prstGeom>
          <a:solidFill>
            <a:srgbClr val="2660C8"/>
          </a:solidFill>
          <a:ln/>
        </p:spPr>
      </p:sp>
      <p:sp>
        <p:nvSpPr>
          <p:cNvPr id="5" name="Text 3"/>
          <p:cNvSpPr/>
          <p:nvPr/>
        </p:nvSpPr>
        <p:spPr>
          <a:xfrm>
            <a:off x="365760" y="1188720"/>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6" name="Text 4"/>
          <p:cNvSpPr/>
          <p:nvPr/>
        </p:nvSpPr>
        <p:spPr>
          <a:xfrm>
            <a:off x="960120" y="1197864"/>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Problem Statement</a:t>
            </a:r>
            <a:endParaRPr lang="en-US" sz="1300" dirty="0"/>
          </a:p>
        </p:txBody>
      </p:sp>
      <p:sp>
        <p:nvSpPr>
          <p:cNvPr id="7" name="Text 5"/>
          <p:cNvSpPr/>
          <p:nvPr/>
        </p:nvSpPr>
        <p:spPr>
          <a:xfrm>
            <a:off x="960120" y="1444752"/>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The challenge &amp; objectives</a:t>
            </a:r>
            <a:endParaRPr lang="en-US" sz="1000" dirty="0"/>
          </a:p>
        </p:txBody>
      </p:sp>
      <p:sp>
        <p:nvSpPr>
          <p:cNvPr id="8" name="Shape 6"/>
          <p:cNvSpPr/>
          <p:nvPr/>
        </p:nvSpPr>
        <p:spPr>
          <a:xfrm>
            <a:off x="365760" y="1938528"/>
            <a:ext cx="502920" cy="502920"/>
          </a:xfrm>
          <a:prstGeom prst="roundRect">
            <a:avLst>
              <a:gd name="adj" fmla="val 14545"/>
            </a:avLst>
          </a:prstGeom>
          <a:solidFill>
            <a:srgbClr val="2660C8"/>
          </a:solidFill>
          <a:ln/>
        </p:spPr>
      </p:sp>
      <p:sp>
        <p:nvSpPr>
          <p:cNvPr id="9" name="Text 7"/>
          <p:cNvSpPr/>
          <p:nvPr/>
        </p:nvSpPr>
        <p:spPr>
          <a:xfrm>
            <a:off x="365760" y="1938528"/>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960120" y="1947672"/>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Data Overview</a:t>
            </a:r>
            <a:endParaRPr lang="en-US" sz="1300" dirty="0"/>
          </a:p>
        </p:txBody>
      </p:sp>
      <p:sp>
        <p:nvSpPr>
          <p:cNvPr id="11" name="Text 9"/>
          <p:cNvSpPr/>
          <p:nvPr/>
        </p:nvSpPr>
        <p:spPr>
          <a:xfrm>
            <a:off x="960120" y="2194560"/>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Database schema &amp; dataset stats</a:t>
            </a:r>
            <a:endParaRPr lang="en-US" sz="1000" dirty="0"/>
          </a:p>
        </p:txBody>
      </p:sp>
      <p:sp>
        <p:nvSpPr>
          <p:cNvPr id="12" name="Shape 10"/>
          <p:cNvSpPr/>
          <p:nvPr/>
        </p:nvSpPr>
        <p:spPr>
          <a:xfrm>
            <a:off x="365760" y="2688336"/>
            <a:ext cx="502920" cy="502920"/>
          </a:xfrm>
          <a:prstGeom prst="roundRect">
            <a:avLst>
              <a:gd name="adj" fmla="val 14545"/>
            </a:avLst>
          </a:prstGeom>
          <a:solidFill>
            <a:srgbClr val="2660C8"/>
          </a:solidFill>
          <a:ln/>
        </p:spPr>
      </p:sp>
      <p:sp>
        <p:nvSpPr>
          <p:cNvPr id="13" name="Text 11"/>
          <p:cNvSpPr/>
          <p:nvPr/>
        </p:nvSpPr>
        <p:spPr>
          <a:xfrm>
            <a:off x="365760" y="2688336"/>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14" name="Text 12"/>
          <p:cNvSpPr/>
          <p:nvPr/>
        </p:nvSpPr>
        <p:spPr>
          <a:xfrm>
            <a:off x="960120" y="2697480"/>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Approach</a:t>
            </a:r>
            <a:endParaRPr lang="en-US" sz="1300" dirty="0"/>
          </a:p>
        </p:txBody>
      </p:sp>
      <p:sp>
        <p:nvSpPr>
          <p:cNvPr id="15" name="Text 13"/>
          <p:cNvSpPr/>
          <p:nvPr/>
        </p:nvSpPr>
        <p:spPr>
          <a:xfrm>
            <a:off x="960120" y="2944368"/>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Methodology &amp; SQL techniques used</a:t>
            </a:r>
            <a:endParaRPr lang="en-US" sz="1000" dirty="0"/>
          </a:p>
        </p:txBody>
      </p:sp>
      <p:sp>
        <p:nvSpPr>
          <p:cNvPr id="16" name="Shape 14"/>
          <p:cNvSpPr/>
          <p:nvPr/>
        </p:nvSpPr>
        <p:spPr>
          <a:xfrm>
            <a:off x="365760" y="3438144"/>
            <a:ext cx="502920" cy="502920"/>
          </a:xfrm>
          <a:prstGeom prst="roundRect">
            <a:avLst>
              <a:gd name="adj" fmla="val 14545"/>
            </a:avLst>
          </a:prstGeom>
          <a:solidFill>
            <a:srgbClr val="2660C8"/>
          </a:solidFill>
          <a:ln/>
        </p:spPr>
      </p:sp>
      <p:sp>
        <p:nvSpPr>
          <p:cNvPr id="17" name="Text 15"/>
          <p:cNvSpPr/>
          <p:nvPr/>
        </p:nvSpPr>
        <p:spPr>
          <a:xfrm>
            <a:off x="365760" y="3438144"/>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18" name="Text 16"/>
          <p:cNvSpPr/>
          <p:nvPr/>
        </p:nvSpPr>
        <p:spPr>
          <a:xfrm>
            <a:off x="960120" y="3447288"/>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Engagement Analysis</a:t>
            </a:r>
            <a:endParaRPr lang="en-US" sz="1300" dirty="0"/>
          </a:p>
        </p:txBody>
      </p:sp>
      <p:sp>
        <p:nvSpPr>
          <p:cNvPr id="19" name="Text 17"/>
          <p:cNvSpPr/>
          <p:nvPr/>
        </p:nvSpPr>
        <p:spPr>
          <a:xfrm>
            <a:off x="960120" y="3694176"/>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Top users &amp; engagement rates</a:t>
            </a:r>
            <a:endParaRPr lang="en-US" sz="1000" dirty="0"/>
          </a:p>
        </p:txBody>
      </p:sp>
      <p:sp>
        <p:nvSpPr>
          <p:cNvPr id="20" name="Shape 18"/>
          <p:cNvSpPr/>
          <p:nvPr/>
        </p:nvSpPr>
        <p:spPr>
          <a:xfrm>
            <a:off x="365760" y="4187952"/>
            <a:ext cx="502920" cy="502920"/>
          </a:xfrm>
          <a:prstGeom prst="roundRect">
            <a:avLst>
              <a:gd name="adj" fmla="val 14545"/>
            </a:avLst>
          </a:prstGeom>
          <a:solidFill>
            <a:srgbClr val="2660C8"/>
          </a:solidFill>
          <a:ln/>
        </p:spPr>
      </p:sp>
      <p:sp>
        <p:nvSpPr>
          <p:cNvPr id="21" name="Text 19"/>
          <p:cNvSpPr/>
          <p:nvPr/>
        </p:nvSpPr>
        <p:spPr>
          <a:xfrm>
            <a:off x="365760" y="4187952"/>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22" name="Text 20"/>
          <p:cNvSpPr/>
          <p:nvPr/>
        </p:nvSpPr>
        <p:spPr>
          <a:xfrm>
            <a:off x="960120" y="4197096"/>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User Classification</a:t>
            </a:r>
            <a:endParaRPr lang="en-US" sz="1300" dirty="0"/>
          </a:p>
        </p:txBody>
      </p:sp>
      <p:sp>
        <p:nvSpPr>
          <p:cNvPr id="23" name="Text 21"/>
          <p:cNvSpPr/>
          <p:nvPr/>
        </p:nvSpPr>
        <p:spPr>
          <a:xfrm>
            <a:off x="960120" y="4443984"/>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Segmentation: Highly / Moderately / Less</a:t>
            </a:r>
            <a:endParaRPr lang="en-US" sz="1000" dirty="0"/>
          </a:p>
        </p:txBody>
      </p:sp>
      <p:sp>
        <p:nvSpPr>
          <p:cNvPr id="24" name="Shape 22"/>
          <p:cNvSpPr/>
          <p:nvPr/>
        </p:nvSpPr>
        <p:spPr>
          <a:xfrm>
            <a:off x="4846320" y="1188720"/>
            <a:ext cx="502920" cy="502920"/>
          </a:xfrm>
          <a:prstGeom prst="roundRect">
            <a:avLst>
              <a:gd name="adj" fmla="val 14545"/>
            </a:avLst>
          </a:prstGeom>
          <a:solidFill>
            <a:srgbClr val="2660C8"/>
          </a:solidFill>
          <a:ln/>
        </p:spPr>
      </p:sp>
      <p:sp>
        <p:nvSpPr>
          <p:cNvPr id="25" name="Text 23"/>
          <p:cNvSpPr/>
          <p:nvPr/>
        </p:nvSpPr>
        <p:spPr>
          <a:xfrm>
            <a:off x="4846320" y="1188720"/>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06</a:t>
            </a:r>
            <a:endParaRPr lang="en-US" sz="1200" dirty="0"/>
          </a:p>
        </p:txBody>
      </p:sp>
      <p:sp>
        <p:nvSpPr>
          <p:cNvPr id="26" name="Text 24"/>
          <p:cNvSpPr/>
          <p:nvPr/>
        </p:nvSpPr>
        <p:spPr>
          <a:xfrm>
            <a:off x="5440680" y="1197864"/>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Content Performance</a:t>
            </a:r>
            <a:endParaRPr lang="en-US" sz="1300" dirty="0"/>
          </a:p>
        </p:txBody>
      </p:sp>
      <p:sp>
        <p:nvSpPr>
          <p:cNvPr id="27" name="Text 25"/>
          <p:cNvSpPr/>
          <p:nvPr/>
        </p:nvSpPr>
        <p:spPr>
          <a:xfrm>
            <a:off x="5440680" y="1444752"/>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Hashtag analysis &amp; top tags</a:t>
            </a:r>
            <a:endParaRPr lang="en-US" sz="1000" dirty="0"/>
          </a:p>
        </p:txBody>
      </p:sp>
      <p:sp>
        <p:nvSpPr>
          <p:cNvPr id="28" name="Shape 26"/>
          <p:cNvSpPr/>
          <p:nvPr/>
        </p:nvSpPr>
        <p:spPr>
          <a:xfrm>
            <a:off x="4846320" y="1938528"/>
            <a:ext cx="502920" cy="502920"/>
          </a:xfrm>
          <a:prstGeom prst="roundRect">
            <a:avLst>
              <a:gd name="adj" fmla="val 14545"/>
            </a:avLst>
          </a:prstGeom>
          <a:solidFill>
            <a:srgbClr val="2660C8"/>
          </a:solidFill>
          <a:ln/>
        </p:spPr>
      </p:sp>
      <p:sp>
        <p:nvSpPr>
          <p:cNvPr id="29" name="Text 27"/>
          <p:cNvSpPr/>
          <p:nvPr/>
        </p:nvSpPr>
        <p:spPr>
          <a:xfrm>
            <a:off x="4846320" y="1938528"/>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07</a:t>
            </a:r>
            <a:endParaRPr lang="en-US" sz="1200" dirty="0"/>
          </a:p>
        </p:txBody>
      </p:sp>
      <p:sp>
        <p:nvSpPr>
          <p:cNvPr id="30" name="Text 28"/>
          <p:cNvSpPr/>
          <p:nvPr/>
        </p:nvSpPr>
        <p:spPr>
          <a:xfrm>
            <a:off x="5440680" y="1947672"/>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Advertisement Strategy</a:t>
            </a:r>
            <a:endParaRPr lang="en-US" sz="1300" dirty="0"/>
          </a:p>
        </p:txBody>
      </p:sp>
      <p:sp>
        <p:nvSpPr>
          <p:cNvPr id="31" name="Text 29"/>
          <p:cNvSpPr/>
          <p:nvPr/>
        </p:nvSpPr>
        <p:spPr>
          <a:xfrm>
            <a:off x="5440680" y="2194560"/>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Personalized ad approaches</a:t>
            </a:r>
            <a:endParaRPr lang="en-US" sz="1000" dirty="0"/>
          </a:p>
        </p:txBody>
      </p:sp>
      <p:sp>
        <p:nvSpPr>
          <p:cNvPr id="32" name="Shape 30"/>
          <p:cNvSpPr/>
          <p:nvPr/>
        </p:nvSpPr>
        <p:spPr>
          <a:xfrm>
            <a:off x="4846320" y="2688336"/>
            <a:ext cx="502920" cy="502920"/>
          </a:xfrm>
          <a:prstGeom prst="roundRect">
            <a:avLst>
              <a:gd name="adj" fmla="val 14545"/>
            </a:avLst>
          </a:prstGeom>
          <a:solidFill>
            <a:srgbClr val="2660C8"/>
          </a:solidFill>
          <a:ln/>
        </p:spPr>
      </p:sp>
      <p:sp>
        <p:nvSpPr>
          <p:cNvPr id="33" name="Text 31"/>
          <p:cNvSpPr/>
          <p:nvPr/>
        </p:nvSpPr>
        <p:spPr>
          <a:xfrm>
            <a:off x="4846320" y="2688336"/>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08</a:t>
            </a:r>
            <a:endParaRPr lang="en-US" sz="1200" dirty="0"/>
          </a:p>
        </p:txBody>
      </p:sp>
      <p:sp>
        <p:nvSpPr>
          <p:cNvPr id="34" name="Text 32"/>
          <p:cNvSpPr/>
          <p:nvPr/>
        </p:nvSpPr>
        <p:spPr>
          <a:xfrm>
            <a:off x="5440680" y="2697480"/>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Campaigns &amp; Projections</a:t>
            </a:r>
            <a:endParaRPr lang="en-US" sz="1300" dirty="0"/>
          </a:p>
        </p:txBody>
      </p:sp>
      <p:sp>
        <p:nvSpPr>
          <p:cNvPr id="35" name="Text 33"/>
          <p:cNvSpPr/>
          <p:nvPr/>
        </p:nvSpPr>
        <p:spPr>
          <a:xfrm>
            <a:off x="5440680" y="2944368"/>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Plans for growth &amp; re-engagement</a:t>
            </a:r>
            <a:endParaRPr lang="en-US" sz="1000" dirty="0"/>
          </a:p>
        </p:txBody>
      </p:sp>
      <p:sp>
        <p:nvSpPr>
          <p:cNvPr id="36" name="Shape 34"/>
          <p:cNvSpPr/>
          <p:nvPr/>
        </p:nvSpPr>
        <p:spPr>
          <a:xfrm>
            <a:off x="4846320" y="3438144"/>
            <a:ext cx="502920" cy="502920"/>
          </a:xfrm>
          <a:prstGeom prst="roundRect">
            <a:avLst>
              <a:gd name="adj" fmla="val 14545"/>
            </a:avLst>
          </a:prstGeom>
          <a:solidFill>
            <a:srgbClr val="2660C8"/>
          </a:solidFill>
          <a:ln/>
        </p:spPr>
      </p:sp>
      <p:sp>
        <p:nvSpPr>
          <p:cNvPr id="37" name="Text 35"/>
          <p:cNvSpPr/>
          <p:nvPr/>
        </p:nvSpPr>
        <p:spPr>
          <a:xfrm>
            <a:off x="4846320" y="3438144"/>
            <a:ext cx="50292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09</a:t>
            </a:r>
            <a:endParaRPr lang="en-US" sz="1200" dirty="0"/>
          </a:p>
        </p:txBody>
      </p:sp>
      <p:sp>
        <p:nvSpPr>
          <p:cNvPr id="38" name="Text 36"/>
          <p:cNvSpPr/>
          <p:nvPr/>
        </p:nvSpPr>
        <p:spPr>
          <a:xfrm>
            <a:off x="5440680" y="3447288"/>
            <a:ext cx="32918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Conclusion</a:t>
            </a:r>
            <a:endParaRPr lang="en-US" sz="1300" dirty="0"/>
          </a:p>
        </p:txBody>
      </p:sp>
      <p:sp>
        <p:nvSpPr>
          <p:cNvPr id="39" name="Text 37"/>
          <p:cNvSpPr/>
          <p:nvPr/>
        </p:nvSpPr>
        <p:spPr>
          <a:xfrm>
            <a:off x="5440680" y="3694176"/>
            <a:ext cx="3291840" cy="2286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Key takeaways &amp; recommendations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850"/>
          </a:solidFill>
          <a:ln w="12700">
            <a:solidFill>
              <a:srgbClr val="112850"/>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457200" y="1143000"/>
            <a:ext cx="8229600" cy="1920240"/>
          </a:xfrm>
          <a:prstGeom prst="roundRect">
            <a:avLst>
              <a:gd name="adj" fmla="val 5714"/>
            </a:avLst>
          </a:prstGeom>
          <a:solidFill>
            <a:srgbClr val="1E4FA0"/>
          </a:solidFill>
          <a:ln/>
          <a:effectLst>
            <a:outerShdw blurRad="101600" dist="38100" dir="2700000" algn="bl" rotWithShape="0">
              <a:srgbClr val="000000">
                <a:alpha val="12000"/>
              </a:srgbClr>
            </a:outerShdw>
          </a:effectLst>
        </p:spPr>
      </p:sp>
      <p:sp>
        <p:nvSpPr>
          <p:cNvPr id="5" name="Text 3"/>
          <p:cNvSpPr/>
          <p:nvPr/>
        </p:nvSpPr>
        <p:spPr>
          <a:xfrm>
            <a:off x="640080" y="1234440"/>
            <a:ext cx="7863840" cy="1737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You are hired as a Data Analyst at Meta and asked to collaborate with the Marketing team. The Marketing team wants to leverage Instagram's user data to develop targeted marketing strategies that will increase user engagement, retention, and acquisition. Provide insights and recommendations to address the following objectives.</a:t>
            </a:r>
            <a:endParaRPr lang="en-US" sz="1400" dirty="0"/>
          </a:p>
        </p:txBody>
      </p:sp>
      <p:sp>
        <p:nvSpPr>
          <p:cNvPr id="6" name="Shape 4"/>
          <p:cNvSpPr/>
          <p:nvPr/>
        </p:nvSpPr>
        <p:spPr>
          <a:xfrm>
            <a:off x="457200" y="3246120"/>
            <a:ext cx="3931920" cy="594360"/>
          </a:xfrm>
          <a:prstGeom prst="roundRect">
            <a:avLst>
              <a:gd name="adj" fmla="val 15385"/>
            </a:avLst>
          </a:prstGeom>
          <a:solidFill>
            <a:srgbClr val="2660C8"/>
          </a:solidFill>
          <a:ln/>
          <a:effectLst>
            <a:outerShdw blurRad="101600" dist="38100" dir="2700000" algn="bl" rotWithShape="0">
              <a:srgbClr val="000000">
                <a:alpha val="12000"/>
              </a:srgbClr>
            </a:outerShdw>
          </a:effectLst>
        </p:spPr>
      </p:sp>
      <p:sp>
        <p:nvSpPr>
          <p:cNvPr id="7" name="Text 5"/>
          <p:cNvSpPr/>
          <p:nvPr/>
        </p:nvSpPr>
        <p:spPr>
          <a:xfrm>
            <a:off x="457200" y="3246120"/>
            <a:ext cx="39319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Increase User Engagement</a:t>
            </a:r>
            <a:endParaRPr lang="en-US" sz="1300" dirty="0"/>
          </a:p>
        </p:txBody>
      </p:sp>
      <p:sp>
        <p:nvSpPr>
          <p:cNvPr id="8" name="Shape 6"/>
          <p:cNvSpPr/>
          <p:nvPr/>
        </p:nvSpPr>
        <p:spPr>
          <a:xfrm>
            <a:off x="4617720" y="3246120"/>
            <a:ext cx="3931920" cy="594360"/>
          </a:xfrm>
          <a:prstGeom prst="roundRect">
            <a:avLst>
              <a:gd name="adj" fmla="val 15385"/>
            </a:avLst>
          </a:prstGeom>
          <a:solidFill>
            <a:srgbClr val="2660C8"/>
          </a:solidFill>
          <a:ln/>
          <a:effectLst>
            <a:outerShdw blurRad="101600" dist="38100" dir="2700000" algn="bl" rotWithShape="0">
              <a:srgbClr val="000000">
                <a:alpha val="12000"/>
              </a:srgbClr>
            </a:outerShdw>
          </a:effectLst>
        </p:spPr>
      </p:sp>
      <p:sp>
        <p:nvSpPr>
          <p:cNvPr id="9" name="Text 7"/>
          <p:cNvSpPr/>
          <p:nvPr/>
        </p:nvSpPr>
        <p:spPr>
          <a:xfrm>
            <a:off x="4617720" y="3246120"/>
            <a:ext cx="39319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Improve User Retention</a:t>
            </a:r>
            <a:endParaRPr lang="en-US" sz="1300" dirty="0"/>
          </a:p>
        </p:txBody>
      </p:sp>
      <p:sp>
        <p:nvSpPr>
          <p:cNvPr id="10" name="Shape 8"/>
          <p:cNvSpPr/>
          <p:nvPr/>
        </p:nvSpPr>
        <p:spPr>
          <a:xfrm>
            <a:off x="457200" y="4023360"/>
            <a:ext cx="3931920" cy="594360"/>
          </a:xfrm>
          <a:prstGeom prst="roundRect">
            <a:avLst>
              <a:gd name="adj" fmla="val 15385"/>
            </a:avLst>
          </a:prstGeom>
          <a:solidFill>
            <a:srgbClr val="2660C8"/>
          </a:solidFill>
          <a:ln/>
          <a:effectLst>
            <a:outerShdw blurRad="101600" dist="38100" dir="2700000" algn="bl" rotWithShape="0">
              <a:srgbClr val="000000">
                <a:alpha val="12000"/>
              </a:srgbClr>
            </a:outerShdw>
          </a:effectLst>
        </p:spPr>
      </p:sp>
      <p:sp>
        <p:nvSpPr>
          <p:cNvPr id="11" name="Text 9"/>
          <p:cNvSpPr/>
          <p:nvPr/>
        </p:nvSpPr>
        <p:spPr>
          <a:xfrm>
            <a:off x="457200" y="4023360"/>
            <a:ext cx="39319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Drive User Acquisition</a:t>
            </a:r>
            <a:endParaRPr lang="en-US" sz="1300" dirty="0"/>
          </a:p>
        </p:txBody>
      </p:sp>
      <p:sp>
        <p:nvSpPr>
          <p:cNvPr id="12" name="Shape 10"/>
          <p:cNvSpPr/>
          <p:nvPr/>
        </p:nvSpPr>
        <p:spPr>
          <a:xfrm>
            <a:off x="4617720" y="4023360"/>
            <a:ext cx="3931920" cy="594360"/>
          </a:xfrm>
          <a:prstGeom prst="roundRect">
            <a:avLst>
              <a:gd name="adj" fmla="val 15385"/>
            </a:avLst>
          </a:prstGeom>
          <a:solidFill>
            <a:srgbClr val="2660C8"/>
          </a:solidFill>
          <a:ln/>
          <a:effectLst>
            <a:outerShdw blurRad="101600" dist="38100" dir="2700000" algn="bl" rotWithShape="0">
              <a:srgbClr val="000000">
                <a:alpha val="12000"/>
              </a:srgbClr>
            </a:outerShdw>
          </a:effectLst>
        </p:spPr>
      </p:sp>
      <p:sp>
        <p:nvSpPr>
          <p:cNvPr id="13" name="Text 11"/>
          <p:cNvSpPr/>
          <p:nvPr/>
        </p:nvSpPr>
        <p:spPr>
          <a:xfrm>
            <a:off x="4617720" y="4023360"/>
            <a:ext cx="39319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Targeted Marketing Strategies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Data Overview</a:t>
            </a:r>
            <a:endParaRPr lang="en-US" sz="3000" dirty="0"/>
          </a:p>
        </p:txBody>
      </p:sp>
      <p:sp>
        <p:nvSpPr>
          <p:cNvPr id="4" name="Shape 2"/>
          <p:cNvSpPr/>
          <p:nvPr/>
        </p:nvSpPr>
        <p:spPr>
          <a:xfrm>
            <a:off x="36576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5" name="Text 3"/>
          <p:cNvSpPr/>
          <p:nvPr/>
        </p:nvSpPr>
        <p:spPr>
          <a:xfrm>
            <a:off x="36576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7</a:t>
            </a:r>
            <a:endParaRPr lang="en-US" sz="2800" dirty="0"/>
          </a:p>
        </p:txBody>
      </p:sp>
      <p:sp>
        <p:nvSpPr>
          <p:cNvPr id="6" name="Text 4"/>
          <p:cNvSpPr/>
          <p:nvPr/>
        </p:nvSpPr>
        <p:spPr>
          <a:xfrm>
            <a:off x="36576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Tables</a:t>
            </a:r>
            <a:endParaRPr lang="en-US" sz="1100" dirty="0"/>
          </a:p>
        </p:txBody>
      </p:sp>
      <p:sp>
        <p:nvSpPr>
          <p:cNvPr id="7" name="Shape 5"/>
          <p:cNvSpPr/>
          <p:nvPr/>
        </p:nvSpPr>
        <p:spPr>
          <a:xfrm>
            <a:off x="205740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8" name="Text 6"/>
          <p:cNvSpPr/>
          <p:nvPr/>
        </p:nvSpPr>
        <p:spPr>
          <a:xfrm>
            <a:off x="205740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100</a:t>
            </a:r>
            <a:endParaRPr lang="en-US" sz="2800" dirty="0"/>
          </a:p>
        </p:txBody>
      </p:sp>
      <p:sp>
        <p:nvSpPr>
          <p:cNvPr id="9" name="Text 7"/>
          <p:cNvSpPr/>
          <p:nvPr/>
        </p:nvSpPr>
        <p:spPr>
          <a:xfrm>
            <a:off x="205740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Users</a:t>
            </a:r>
            <a:endParaRPr lang="en-US" sz="1100" dirty="0"/>
          </a:p>
        </p:txBody>
      </p:sp>
      <p:sp>
        <p:nvSpPr>
          <p:cNvPr id="10" name="Shape 8"/>
          <p:cNvSpPr/>
          <p:nvPr/>
        </p:nvSpPr>
        <p:spPr>
          <a:xfrm>
            <a:off x="374904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11" name="Text 9"/>
          <p:cNvSpPr/>
          <p:nvPr/>
        </p:nvSpPr>
        <p:spPr>
          <a:xfrm>
            <a:off x="374904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257</a:t>
            </a:r>
            <a:endParaRPr lang="en-US" sz="2800" dirty="0"/>
          </a:p>
        </p:txBody>
      </p:sp>
      <p:sp>
        <p:nvSpPr>
          <p:cNvPr id="12" name="Text 10"/>
          <p:cNvSpPr/>
          <p:nvPr/>
        </p:nvSpPr>
        <p:spPr>
          <a:xfrm>
            <a:off x="374904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Photos</a:t>
            </a:r>
            <a:endParaRPr lang="en-US" sz="1100" dirty="0"/>
          </a:p>
        </p:txBody>
      </p:sp>
      <p:sp>
        <p:nvSpPr>
          <p:cNvPr id="13" name="Shape 11"/>
          <p:cNvSpPr/>
          <p:nvPr/>
        </p:nvSpPr>
        <p:spPr>
          <a:xfrm>
            <a:off x="544068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14" name="Text 12"/>
          <p:cNvSpPr/>
          <p:nvPr/>
        </p:nvSpPr>
        <p:spPr>
          <a:xfrm>
            <a:off x="544068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8,782</a:t>
            </a:r>
            <a:endParaRPr lang="en-US" sz="2800" dirty="0"/>
          </a:p>
        </p:txBody>
      </p:sp>
      <p:sp>
        <p:nvSpPr>
          <p:cNvPr id="15" name="Text 13"/>
          <p:cNvSpPr/>
          <p:nvPr/>
        </p:nvSpPr>
        <p:spPr>
          <a:xfrm>
            <a:off x="544068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Likes</a:t>
            </a:r>
            <a:endParaRPr lang="en-US" sz="1100" dirty="0"/>
          </a:p>
        </p:txBody>
      </p:sp>
      <p:sp>
        <p:nvSpPr>
          <p:cNvPr id="16" name="Shape 14"/>
          <p:cNvSpPr/>
          <p:nvPr/>
        </p:nvSpPr>
        <p:spPr>
          <a:xfrm>
            <a:off x="7132320" y="1143000"/>
            <a:ext cx="1508760" cy="1280160"/>
          </a:xfrm>
          <a:prstGeom prst="roundRect">
            <a:avLst>
              <a:gd name="adj" fmla="val 7143"/>
            </a:avLst>
          </a:prstGeom>
          <a:solidFill>
            <a:srgbClr val="1A3A6B"/>
          </a:solidFill>
          <a:ln/>
          <a:effectLst>
            <a:outerShdw blurRad="101600" dist="38100" dir="2700000" algn="bl" rotWithShape="0">
              <a:srgbClr val="000000">
                <a:alpha val="12000"/>
              </a:srgbClr>
            </a:outerShdw>
          </a:effectLst>
        </p:spPr>
      </p:sp>
      <p:sp>
        <p:nvSpPr>
          <p:cNvPr id="17" name="Text 15"/>
          <p:cNvSpPr/>
          <p:nvPr/>
        </p:nvSpPr>
        <p:spPr>
          <a:xfrm>
            <a:off x="7132320" y="1234440"/>
            <a:ext cx="1508760" cy="73152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7,488</a:t>
            </a:r>
            <a:endParaRPr lang="en-US" sz="2800" dirty="0"/>
          </a:p>
        </p:txBody>
      </p:sp>
      <p:sp>
        <p:nvSpPr>
          <p:cNvPr id="18" name="Text 16"/>
          <p:cNvSpPr/>
          <p:nvPr/>
        </p:nvSpPr>
        <p:spPr>
          <a:xfrm>
            <a:off x="7132320" y="1874520"/>
            <a:ext cx="1508760" cy="411480"/>
          </a:xfrm>
          <a:prstGeom prst="rect">
            <a:avLst/>
          </a:prstGeom>
          <a:noFill/>
          <a:ln/>
        </p:spPr>
        <p:txBody>
          <a:bodyPr wrap="square" rtlCol="0" anchor="ctr"/>
          <a:lstStyle/>
          <a:p>
            <a:pPr marL="0" indent="0" algn="ctr">
              <a:buNone/>
            </a:pPr>
            <a:r>
              <a:rPr lang="en-US" sz="1100" dirty="0">
                <a:solidFill>
                  <a:srgbClr val="D6E4FF"/>
                </a:solidFill>
                <a:latin typeface="Calibri" pitchFamily="34" charset="0"/>
                <a:ea typeface="Calibri" pitchFamily="34" charset="-122"/>
                <a:cs typeface="Calibri" pitchFamily="34" charset="-120"/>
              </a:rPr>
              <a:t>Comments</a:t>
            </a:r>
            <a:endParaRPr lang="en-US" sz="1100" dirty="0"/>
          </a:p>
        </p:txBody>
      </p:sp>
      <p:sp>
        <p:nvSpPr>
          <p:cNvPr id="19" name="Text 17"/>
          <p:cNvSpPr/>
          <p:nvPr/>
        </p:nvSpPr>
        <p:spPr>
          <a:xfrm>
            <a:off x="365760" y="2606040"/>
            <a:ext cx="2743200" cy="320040"/>
          </a:xfrm>
          <a:prstGeom prst="rect">
            <a:avLst/>
          </a:prstGeom>
          <a:noFill/>
          <a:ln/>
        </p:spPr>
        <p:txBody>
          <a:bodyPr wrap="square" rtlCol="0" anchor="ctr"/>
          <a:lstStyle/>
          <a:p>
            <a:pPr marL="0" indent="0">
              <a:buNone/>
            </a:pPr>
            <a:r>
              <a:rPr lang="en-US" sz="1400" b="1" dirty="0">
                <a:solidFill>
                  <a:srgbClr val="1A3A6B"/>
                </a:solidFill>
                <a:latin typeface="Calibri" pitchFamily="34" charset="0"/>
                <a:ea typeface="Calibri" pitchFamily="34" charset="-122"/>
                <a:cs typeface="Calibri" pitchFamily="34" charset="-120"/>
              </a:rPr>
              <a:t>Database Tables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2926080"/>
          <a:ext cx="8412480" cy="2047240"/>
        </p:xfrm>
        <a:graphic>
          <a:graphicData uri="http://schemas.openxmlformats.org/drawingml/2006/table">
            <a:tbl>
              <a:tblPr/>
              <a:tblGrid>
                <a:gridCol w="1463040"/>
                <a:gridCol w="5669280"/>
                <a:gridCol w="1280160"/>
              </a:tblGrid>
              <a:tr h="2514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Table</a:t>
                      </a:r>
                      <a:endParaRPr lang="en-US" sz="11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1E4FA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Key Column(s)</a:t>
                      </a:r>
                      <a:endParaRPr lang="en-US" sz="11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1E4FA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1E4FA0"/>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users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 username, created_at</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photos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 image_url, user_id</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257</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likes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user_id, photo_id, created_at</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8,782</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comments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 comment_text, user_id, photo_id</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7,488</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follows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follower_id, followee_id</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7,623</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tags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id, tag_name</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FFFFFF"/>
                    </a:solidFill>
                  </a:tcPr>
                </a:tc>
              </a:tr>
              <a:tr h="251460">
                <a:tc>
                  <a:txBody>
                    <a:bodyPr/>
                    <a:lstStyle/>
                    <a:p>
                      <a:pPr marL="0" indent="0" algn="l">
                        <a:buNone/>
                      </a:pPr>
                      <a:r>
                        <a:rPr lang="en-US" sz="1000" b="1" dirty="0">
                          <a:solidFill>
                            <a:srgbClr val="1A1A2E"/>
                          </a:solidFill>
                          <a:latin typeface="Calibri" pitchFamily="34" charset="0"/>
                          <a:ea typeface="Calibri" pitchFamily="34" charset="-122"/>
                          <a:cs typeface="Calibri" pitchFamily="34" charset="-120"/>
                        </a:rPr>
                        <a:t>photo_tags</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l">
                        <a:buNone/>
                      </a:pPr>
                      <a:r>
                        <a:rPr lang="en-US" sz="1000" dirty="0">
                          <a:solidFill>
                            <a:srgbClr val="1A1A2E"/>
                          </a:solidFill>
                          <a:latin typeface="Calibri" pitchFamily="34" charset="0"/>
                          <a:ea typeface="Calibri" pitchFamily="34" charset="-122"/>
                          <a:cs typeface="Calibri" pitchFamily="34" charset="-120"/>
                        </a:rPr>
                        <a:t>photo_id, tag_id</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501</a:t>
                      </a:r>
                      <a:endParaRPr lang="en-US" sz="1000" dirty="0">
                        <a:latin typeface="Calibri" charset="0"/>
                        <a:ea typeface="Calibri" charset="0"/>
                        <a:cs typeface="Calibri" charset="0"/>
                      </a:endParaRPr>
                    </a:p>
                  </a:txBody>
                  <a:tcPr marL="76200" marR="76200" marT="50800" marB="50800">
                    <a:lnL w="12700" cap="flat" cmpd="sng" algn="ctr">
                      <a:solidFill>
                        <a:srgbClr val="D0D8EE"/>
                      </a:solidFill>
                      <a:prstDash val="solid"/>
                      <a:round/>
                      <a:headEnd type="none" w="med" len="med"/>
                      <a:tailEnd type="none" w="med" len="med"/>
                    </a:lnL>
                    <a:lnR w="12700" cap="flat" cmpd="sng" algn="ctr">
                      <a:solidFill>
                        <a:srgbClr val="D0D8EE"/>
                      </a:solidFill>
                      <a:prstDash val="solid"/>
                      <a:round/>
                      <a:headEnd type="none" w="med" len="med"/>
                      <a:tailEnd type="none" w="med" len="med"/>
                    </a:lnR>
                    <a:lnT w="12700" cap="flat" cmpd="sng" algn="ctr">
                      <a:solidFill>
                        <a:srgbClr val="D0D8EE"/>
                      </a:solidFill>
                      <a:prstDash val="solid"/>
                      <a:round/>
                      <a:headEnd type="none" w="med" len="med"/>
                      <a:tailEnd type="none" w="med" len="med"/>
                    </a:lnT>
                    <a:lnB w="12700" cap="flat" cmpd="sng" algn="ctr">
                      <a:solidFill>
                        <a:srgbClr val="D0D8EE"/>
                      </a:solidFill>
                      <a:prstDash val="solid"/>
                      <a:round/>
                      <a:headEnd type="none" w="med" len="med"/>
                      <a:tailEnd type="none" w="med" len="med"/>
                    </a:lnB>
                    <a:solidFill>
                      <a:srgbClr val="EAF0FB"/>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Approach</a:t>
            </a:r>
            <a:endParaRPr lang="en-US" sz="3000" dirty="0"/>
          </a:p>
        </p:txBody>
      </p:sp>
      <p:sp>
        <p:nvSpPr>
          <p:cNvPr id="4" name="Shape 2"/>
          <p:cNvSpPr/>
          <p:nvPr/>
        </p:nvSpPr>
        <p:spPr>
          <a:xfrm>
            <a:off x="365760" y="1188720"/>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475488" y="1298448"/>
            <a:ext cx="502920" cy="502920"/>
          </a:xfrm>
          <a:prstGeom prst="roundRect">
            <a:avLst>
              <a:gd name="adj" fmla="val 12727"/>
            </a:avLst>
          </a:prstGeom>
          <a:solidFill>
            <a:srgbClr val="1A3A6B"/>
          </a:solidFill>
          <a:ln/>
        </p:spPr>
      </p:sp>
      <p:sp>
        <p:nvSpPr>
          <p:cNvPr id="6" name="Text 4"/>
          <p:cNvSpPr/>
          <p:nvPr/>
        </p:nvSpPr>
        <p:spPr>
          <a:xfrm>
            <a:off x="475488" y="1298448"/>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1078992" y="1280160"/>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Understanding Statistics</a:t>
            </a:r>
            <a:endParaRPr lang="en-US" sz="1200" dirty="0"/>
          </a:p>
        </p:txBody>
      </p:sp>
      <p:sp>
        <p:nvSpPr>
          <p:cNvPr id="8" name="Text 6"/>
          <p:cNvSpPr/>
          <p:nvPr/>
        </p:nvSpPr>
        <p:spPr>
          <a:xfrm>
            <a:off x="1078992" y="1572768"/>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Calculated basic stats: total users, posts, likes, comments, and engagement across the ig_clone database.</a:t>
            </a:r>
            <a:endParaRPr lang="en-US" sz="1000" dirty="0"/>
          </a:p>
        </p:txBody>
      </p:sp>
      <p:sp>
        <p:nvSpPr>
          <p:cNvPr id="9" name="Shape 7"/>
          <p:cNvSpPr/>
          <p:nvPr/>
        </p:nvSpPr>
        <p:spPr>
          <a:xfrm>
            <a:off x="4846320" y="1188720"/>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10" name="Shape 8"/>
          <p:cNvSpPr/>
          <p:nvPr/>
        </p:nvSpPr>
        <p:spPr>
          <a:xfrm>
            <a:off x="4956048" y="1298448"/>
            <a:ext cx="502920" cy="502920"/>
          </a:xfrm>
          <a:prstGeom prst="roundRect">
            <a:avLst>
              <a:gd name="adj" fmla="val 12727"/>
            </a:avLst>
          </a:prstGeom>
          <a:solidFill>
            <a:srgbClr val="1A3A6B"/>
          </a:solidFill>
          <a:ln/>
        </p:spPr>
      </p:sp>
      <p:sp>
        <p:nvSpPr>
          <p:cNvPr id="11" name="Text 9"/>
          <p:cNvSpPr/>
          <p:nvPr/>
        </p:nvSpPr>
        <p:spPr>
          <a:xfrm>
            <a:off x="4956048" y="1298448"/>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02</a:t>
            </a:r>
            <a:endParaRPr lang="en-US" sz="1100" dirty="0"/>
          </a:p>
        </p:txBody>
      </p:sp>
      <p:sp>
        <p:nvSpPr>
          <p:cNvPr id="12" name="Text 10"/>
          <p:cNvSpPr/>
          <p:nvPr/>
        </p:nvSpPr>
        <p:spPr>
          <a:xfrm>
            <a:off x="5559552" y="1280160"/>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Data Cleaning &amp; Validation</a:t>
            </a:r>
            <a:endParaRPr lang="en-US" sz="1200" dirty="0"/>
          </a:p>
        </p:txBody>
      </p:sp>
      <p:sp>
        <p:nvSpPr>
          <p:cNvPr id="13" name="Text 11"/>
          <p:cNvSpPr/>
          <p:nvPr/>
        </p:nvSpPr>
        <p:spPr>
          <a:xfrm>
            <a:off x="5559552" y="1572768"/>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Checked and removed duplicates. Treated NULL values in all 7 tables before analysis.</a:t>
            </a:r>
            <a:endParaRPr lang="en-US" sz="1000" dirty="0"/>
          </a:p>
        </p:txBody>
      </p:sp>
      <p:sp>
        <p:nvSpPr>
          <p:cNvPr id="14" name="Shape 12"/>
          <p:cNvSpPr/>
          <p:nvPr/>
        </p:nvSpPr>
        <p:spPr>
          <a:xfrm>
            <a:off x="365760" y="2450592"/>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15" name="Shape 13"/>
          <p:cNvSpPr/>
          <p:nvPr/>
        </p:nvSpPr>
        <p:spPr>
          <a:xfrm>
            <a:off x="475488" y="2560320"/>
            <a:ext cx="502920" cy="502920"/>
          </a:xfrm>
          <a:prstGeom prst="roundRect">
            <a:avLst>
              <a:gd name="adj" fmla="val 12727"/>
            </a:avLst>
          </a:prstGeom>
          <a:solidFill>
            <a:srgbClr val="1A3A6B"/>
          </a:solidFill>
          <a:ln/>
        </p:spPr>
      </p:sp>
      <p:sp>
        <p:nvSpPr>
          <p:cNvPr id="16" name="Text 14"/>
          <p:cNvSpPr/>
          <p:nvPr/>
        </p:nvSpPr>
        <p:spPr>
          <a:xfrm>
            <a:off x="475488" y="2560320"/>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03</a:t>
            </a:r>
            <a:endParaRPr lang="en-US" sz="1100" dirty="0"/>
          </a:p>
        </p:txBody>
      </p:sp>
      <p:sp>
        <p:nvSpPr>
          <p:cNvPr id="17" name="Text 15"/>
          <p:cNvSpPr/>
          <p:nvPr/>
        </p:nvSpPr>
        <p:spPr>
          <a:xfrm>
            <a:off x="1078992" y="2542032"/>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SQL Analysis</a:t>
            </a:r>
            <a:endParaRPr lang="en-US" sz="1200" dirty="0"/>
          </a:p>
        </p:txBody>
      </p:sp>
      <p:sp>
        <p:nvSpPr>
          <p:cNvPr id="18" name="Text 16"/>
          <p:cNvSpPr/>
          <p:nvPr/>
        </p:nvSpPr>
        <p:spPr>
          <a:xfrm>
            <a:off x="1078992" y="2834640"/>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Used CTEs, Aggregate Functions (AVG, COUNT, ROUND), Subqueries, GROUP BY, RANK(), and Window Functions.</a:t>
            </a:r>
            <a:endParaRPr lang="en-US" sz="1000" dirty="0"/>
          </a:p>
        </p:txBody>
      </p:sp>
      <p:sp>
        <p:nvSpPr>
          <p:cNvPr id="19" name="Shape 17"/>
          <p:cNvSpPr/>
          <p:nvPr/>
        </p:nvSpPr>
        <p:spPr>
          <a:xfrm>
            <a:off x="4846320" y="2450592"/>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20" name="Shape 18"/>
          <p:cNvSpPr/>
          <p:nvPr/>
        </p:nvSpPr>
        <p:spPr>
          <a:xfrm>
            <a:off x="4956048" y="2560320"/>
            <a:ext cx="502920" cy="502920"/>
          </a:xfrm>
          <a:prstGeom prst="roundRect">
            <a:avLst>
              <a:gd name="adj" fmla="val 12727"/>
            </a:avLst>
          </a:prstGeom>
          <a:solidFill>
            <a:srgbClr val="1A3A6B"/>
          </a:solidFill>
          <a:ln/>
        </p:spPr>
      </p:sp>
      <p:sp>
        <p:nvSpPr>
          <p:cNvPr id="21" name="Text 19"/>
          <p:cNvSpPr/>
          <p:nvPr/>
        </p:nvSpPr>
        <p:spPr>
          <a:xfrm>
            <a:off x="4956048" y="2560320"/>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04</a:t>
            </a:r>
            <a:endParaRPr lang="en-US" sz="1100" dirty="0"/>
          </a:p>
        </p:txBody>
      </p:sp>
      <p:sp>
        <p:nvSpPr>
          <p:cNvPr id="22" name="Text 20"/>
          <p:cNvSpPr/>
          <p:nvPr/>
        </p:nvSpPr>
        <p:spPr>
          <a:xfrm>
            <a:off x="5559552" y="2542032"/>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Data Visualization</a:t>
            </a:r>
            <a:endParaRPr lang="en-US" sz="1200" dirty="0"/>
          </a:p>
        </p:txBody>
      </p:sp>
      <p:sp>
        <p:nvSpPr>
          <p:cNvPr id="23" name="Text 21"/>
          <p:cNvSpPr/>
          <p:nvPr/>
        </p:nvSpPr>
        <p:spPr>
          <a:xfrm>
            <a:off x="5559552" y="2834640"/>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Charted key metrics: total posts, likes, comments. Ranked users by engagement. Highlighted influential hashtags.</a:t>
            </a:r>
            <a:endParaRPr lang="en-US" sz="1000" dirty="0"/>
          </a:p>
        </p:txBody>
      </p:sp>
      <p:sp>
        <p:nvSpPr>
          <p:cNvPr id="24" name="Shape 22"/>
          <p:cNvSpPr/>
          <p:nvPr/>
        </p:nvSpPr>
        <p:spPr>
          <a:xfrm>
            <a:off x="365760" y="3712464"/>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25" name="Shape 23"/>
          <p:cNvSpPr/>
          <p:nvPr/>
        </p:nvSpPr>
        <p:spPr>
          <a:xfrm>
            <a:off x="475488" y="3822192"/>
            <a:ext cx="502920" cy="502920"/>
          </a:xfrm>
          <a:prstGeom prst="roundRect">
            <a:avLst>
              <a:gd name="adj" fmla="val 12727"/>
            </a:avLst>
          </a:prstGeom>
          <a:solidFill>
            <a:srgbClr val="1A3A6B"/>
          </a:solidFill>
          <a:ln/>
        </p:spPr>
      </p:sp>
      <p:sp>
        <p:nvSpPr>
          <p:cNvPr id="26" name="Text 24"/>
          <p:cNvSpPr/>
          <p:nvPr/>
        </p:nvSpPr>
        <p:spPr>
          <a:xfrm>
            <a:off x="475488" y="3822192"/>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05</a:t>
            </a:r>
            <a:endParaRPr lang="en-US" sz="1100" dirty="0"/>
          </a:p>
        </p:txBody>
      </p:sp>
      <p:sp>
        <p:nvSpPr>
          <p:cNvPr id="27" name="Text 25"/>
          <p:cNvSpPr/>
          <p:nvPr/>
        </p:nvSpPr>
        <p:spPr>
          <a:xfrm>
            <a:off x="1078992" y="3803904"/>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Strategy Making</a:t>
            </a:r>
            <a:endParaRPr lang="en-US" sz="1200" dirty="0"/>
          </a:p>
        </p:txBody>
      </p:sp>
      <p:sp>
        <p:nvSpPr>
          <p:cNvPr id="28" name="Text 26"/>
          <p:cNvSpPr/>
          <p:nvPr/>
        </p:nvSpPr>
        <p:spPr>
          <a:xfrm>
            <a:off x="1078992" y="4096512"/>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Prepared targeted plans to increase user retention, boost engagement activities, and improve ad effectiveness.</a:t>
            </a:r>
            <a:endParaRPr lang="en-US" sz="1000" dirty="0"/>
          </a:p>
        </p:txBody>
      </p:sp>
      <p:sp>
        <p:nvSpPr>
          <p:cNvPr id="29" name="Shape 27"/>
          <p:cNvSpPr/>
          <p:nvPr/>
        </p:nvSpPr>
        <p:spPr>
          <a:xfrm>
            <a:off x="4846320" y="3712464"/>
            <a:ext cx="4206240" cy="1143000"/>
          </a:xfrm>
          <a:prstGeom prst="roundRect">
            <a:avLst>
              <a:gd name="adj" fmla="val 8000"/>
            </a:avLst>
          </a:prstGeom>
          <a:solidFill>
            <a:srgbClr val="FFFFFF"/>
          </a:solidFill>
          <a:ln/>
          <a:effectLst>
            <a:outerShdw blurRad="101600" dist="38100" dir="2700000" algn="bl" rotWithShape="0">
              <a:srgbClr val="000000">
                <a:alpha val="12000"/>
              </a:srgbClr>
            </a:outerShdw>
          </a:effectLst>
        </p:spPr>
      </p:sp>
      <p:sp>
        <p:nvSpPr>
          <p:cNvPr id="30" name="Shape 28"/>
          <p:cNvSpPr/>
          <p:nvPr/>
        </p:nvSpPr>
        <p:spPr>
          <a:xfrm>
            <a:off x="4956048" y="3822192"/>
            <a:ext cx="502920" cy="502920"/>
          </a:xfrm>
          <a:prstGeom prst="roundRect">
            <a:avLst>
              <a:gd name="adj" fmla="val 12727"/>
            </a:avLst>
          </a:prstGeom>
          <a:solidFill>
            <a:srgbClr val="1A3A6B"/>
          </a:solidFill>
          <a:ln/>
        </p:spPr>
      </p:sp>
      <p:sp>
        <p:nvSpPr>
          <p:cNvPr id="31" name="Text 29"/>
          <p:cNvSpPr/>
          <p:nvPr/>
        </p:nvSpPr>
        <p:spPr>
          <a:xfrm>
            <a:off x="4956048" y="3822192"/>
            <a:ext cx="502920" cy="502920"/>
          </a:xfrm>
          <a:prstGeom prst="rect">
            <a:avLst/>
          </a:prstGeom>
          <a:noFill/>
          <a:ln/>
        </p:spPr>
        <p:txBody>
          <a:bodyPr wrap="square" rtlCol="0" anchor="ctr"/>
          <a:lstStyle/>
          <a:p>
            <a:pPr marL="0" indent="0" algn="ctr">
              <a:buNone/>
            </a:pPr>
            <a:r>
              <a:rPr lang="en-US" sz="1100" b="1" dirty="0">
                <a:solidFill>
                  <a:srgbClr val="F5A623"/>
                </a:solidFill>
                <a:latin typeface="Arial" pitchFamily="34" charset="0"/>
                <a:ea typeface="Arial" pitchFamily="34" charset="-122"/>
                <a:cs typeface="Arial" pitchFamily="34" charset="-120"/>
              </a:rPr>
              <a:t>06</a:t>
            </a:r>
            <a:endParaRPr lang="en-US" sz="1100" dirty="0"/>
          </a:p>
        </p:txBody>
      </p:sp>
      <p:sp>
        <p:nvSpPr>
          <p:cNvPr id="32" name="Text 30"/>
          <p:cNvSpPr/>
          <p:nvPr/>
        </p:nvSpPr>
        <p:spPr>
          <a:xfrm>
            <a:off x="5559552" y="3803904"/>
            <a:ext cx="338328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Implementation</a:t>
            </a:r>
            <a:endParaRPr lang="en-US" sz="1200" dirty="0"/>
          </a:p>
        </p:txBody>
      </p:sp>
      <p:sp>
        <p:nvSpPr>
          <p:cNvPr id="33" name="Text 31"/>
          <p:cNvSpPr/>
          <p:nvPr/>
        </p:nvSpPr>
        <p:spPr>
          <a:xfrm>
            <a:off x="5559552" y="4096512"/>
            <a:ext cx="3383280" cy="658368"/>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Discussed practical implementation of strategies for optimised and measurable results at scale.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GB" sz="2420"/>
              <a:t>Database schema</a:t>
            </a:r>
            <a:endParaRPr sz="2420"/>
          </a:p>
        </p:txBody>
      </p:sp>
      <p:pic>
        <p:nvPicPr>
          <p:cNvPr id="79" name="Google Shape;79;p17"/>
          <p:cNvPicPr preferRelativeResize="0"/>
          <p:nvPr/>
        </p:nvPicPr>
        <p:blipFill>
          <a:blip r:embed="rId3">
            <a:alphaModFix/>
          </a:blip>
          <a:stretch>
            <a:fillRect/>
          </a:stretch>
        </p:blipFill>
        <p:spPr>
          <a:xfrm>
            <a:off x="1811475" y="1017725"/>
            <a:ext cx="5205401" cy="4036325"/>
          </a:xfrm>
          <a:prstGeom prst="rect">
            <a:avLst/>
          </a:prstGeom>
          <a:noFill/>
          <a:ln>
            <a:noFill/>
          </a:ln>
        </p:spPr>
      </p:pic>
    </p:spTree>
    <p:extLst>
      <p:ext uri="{BB962C8B-B14F-4D97-AF65-F5344CB8AC3E}">
        <p14:creationId xmlns:p14="http://schemas.microsoft.com/office/powerpoint/2010/main" val="2317207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Engagement Analysis</a:t>
            </a:r>
            <a:endParaRPr lang="en-US" sz="3000" dirty="0"/>
          </a:p>
        </p:txBody>
      </p:sp>
      <p:sp>
        <p:nvSpPr>
          <p:cNvPr id="4" name="Shape 2"/>
          <p:cNvSpPr/>
          <p:nvPr/>
        </p:nvSpPr>
        <p:spPr>
          <a:xfrm>
            <a:off x="365760" y="1097280"/>
            <a:ext cx="1920240" cy="1188720"/>
          </a:xfrm>
          <a:prstGeom prst="roundRect">
            <a:avLst>
              <a:gd name="adj" fmla="val 7692"/>
            </a:avLst>
          </a:prstGeom>
          <a:solidFill>
            <a:srgbClr val="1A3A6B"/>
          </a:solidFill>
          <a:ln/>
          <a:effectLst>
            <a:outerShdw blurRad="101600" dist="38100" dir="2700000" algn="bl" rotWithShape="0">
              <a:srgbClr val="000000">
                <a:alpha val="12000"/>
              </a:srgbClr>
            </a:outerShdw>
          </a:effectLst>
        </p:spPr>
      </p:sp>
      <p:sp>
        <p:nvSpPr>
          <p:cNvPr id="5" name="Text 3"/>
          <p:cNvSpPr/>
          <p:nvPr/>
        </p:nvSpPr>
        <p:spPr>
          <a:xfrm>
            <a:off x="365760" y="1143000"/>
            <a:ext cx="1920240" cy="658368"/>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149–166</a:t>
            </a:r>
            <a:endParaRPr lang="en-US" sz="2200" dirty="0"/>
          </a:p>
        </p:txBody>
      </p:sp>
      <p:sp>
        <p:nvSpPr>
          <p:cNvPr id="6" name="Text 4"/>
          <p:cNvSpPr/>
          <p:nvPr/>
        </p:nvSpPr>
        <p:spPr>
          <a:xfrm>
            <a:off x="365760" y="1737360"/>
            <a:ext cx="1920240" cy="457200"/>
          </a:xfrm>
          <a:prstGeom prst="rect">
            <a:avLst/>
          </a:prstGeom>
          <a:noFill/>
          <a:ln/>
        </p:spPr>
        <p:txBody>
          <a:bodyPr wrap="square" rtlCol="0" anchor="ctr"/>
          <a:lstStyle/>
          <a:p>
            <a:pPr marL="0" indent="0" algn="ctr">
              <a:buNone/>
            </a:pPr>
            <a:r>
              <a:rPr lang="en-US" sz="950" dirty="0">
                <a:solidFill>
                  <a:srgbClr val="D6E4FF"/>
                </a:solidFill>
                <a:latin typeface="Calibri" pitchFamily="34" charset="0"/>
                <a:ea typeface="Calibri" pitchFamily="34" charset="-122"/>
                <a:cs typeface="Calibri" pitchFamily="34" charset="-120"/>
              </a:rPr>
              <a:t>Top User Engagement Range</a:t>
            </a:r>
            <a:endParaRPr lang="en-US" sz="950" dirty="0"/>
          </a:p>
        </p:txBody>
      </p:sp>
      <p:sp>
        <p:nvSpPr>
          <p:cNvPr id="7" name="Shape 5"/>
          <p:cNvSpPr/>
          <p:nvPr/>
        </p:nvSpPr>
        <p:spPr>
          <a:xfrm>
            <a:off x="2468880" y="1097280"/>
            <a:ext cx="1920240" cy="1188720"/>
          </a:xfrm>
          <a:prstGeom prst="roundRect">
            <a:avLst>
              <a:gd name="adj" fmla="val 7692"/>
            </a:avLst>
          </a:prstGeom>
          <a:solidFill>
            <a:srgbClr val="1A3A6B"/>
          </a:solidFill>
          <a:ln/>
          <a:effectLst>
            <a:outerShdw blurRad="101600" dist="38100" dir="2700000" algn="bl" rotWithShape="0">
              <a:srgbClr val="000000">
                <a:alpha val="12000"/>
              </a:srgbClr>
            </a:outerShdw>
          </a:effectLst>
        </p:spPr>
      </p:sp>
      <p:sp>
        <p:nvSpPr>
          <p:cNvPr id="8" name="Text 6"/>
          <p:cNvSpPr/>
          <p:nvPr/>
        </p:nvSpPr>
        <p:spPr>
          <a:xfrm>
            <a:off x="2468880" y="1143000"/>
            <a:ext cx="1920240" cy="658368"/>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65</a:t>
            </a:r>
            <a:endParaRPr lang="en-US" sz="2200" dirty="0"/>
          </a:p>
        </p:txBody>
      </p:sp>
      <p:sp>
        <p:nvSpPr>
          <p:cNvPr id="9" name="Text 7"/>
          <p:cNvSpPr/>
          <p:nvPr/>
        </p:nvSpPr>
        <p:spPr>
          <a:xfrm>
            <a:off x="2468880" y="1737360"/>
            <a:ext cx="1920240" cy="457200"/>
          </a:xfrm>
          <a:prstGeom prst="rect">
            <a:avLst/>
          </a:prstGeom>
          <a:noFill/>
          <a:ln/>
        </p:spPr>
        <p:txBody>
          <a:bodyPr wrap="square" rtlCol="0" anchor="ctr"/>
          <a:lstStyle/>
          <a:p>
            <a:pPr marL="0" indent="0" algn="ctr">
              <a:buNone/>
            </a:pPr>
            <a:r>
              <a:rPr lang="en-US" sz="950" dirty="0">
                <a:solidFill>
                  <a:srgbClr val="D6E4FF"/>
                </a:solidFill>
                <a:latin typeface="Calibri" pitchFamily="34" charset="0"/>
                <a:ea typeface="Calibri" pitchFamily="34" charset="-122"/>
                <a:cs typeface="Calibri" pitchFamily="34" charset="-120"/>
              </a:rPr>
              <a:t>Avg Engagement Rate (all users)</a:t>
            </a:r>
            <a:endParaRPr lang="en-US" sz="950" dirty="0"/>
          </a:p>
        </p:txBody>
      </p:sp>
      <p:sp>
        <p:nvSpPr>
          <p:cNvPr id="10" name="Shape 8"/>
          <p:cNvSpPr/>
          <p:nvPr/>
        </p:nvSpPr>
        <p:spPr>
          <a:xfrm>
            <a:off x="4572000" y="1097280"/>
            <a:ext cx="1920240" cy="1188720"/>
          </a:xfrm>
          <a:prstGeom prst="roundRect">
            <a:avLst>
              <a:gd name="adj" fmla="val 7692"/>
            </a:avLst>
          </a:prstGeom>
          <a:solidFill>
            <a:srgbClr val="1A3A6B"/>
          </a:solidFill>
          <a:ln/>
          <a:effectLst>
            <a:outerShdw blurRad="101600" dist="38100" dir="2700000" algn="bl" rotWithShape="0">
              <a:srgbClr val="000000">
                <a:alpha val="12000"/>
              </a:srgbClr>
            </a:outerShdw>
          </a:effectLst>
        </p:spPr>
      </p:sp>
      <p:sp>
        <p:nvSpPr>
          <p:cNvPr id="11" name="Text 9"/>
          <p:cNvSpPr/>
          <p:nvPr/>
        </p:nvSpPr>
        <p:spPr>
          <a:xfrm>
            <a:off x="4572000" y="1143000"/>
            <a:ext cx="1920240" cy="658368"/>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31</a:t>
            </a:r>
            <a:endParaRPr lang="en-US" sz="2200" dirty="0"/>
          </a:p>
        </p:txBody>
      </p:sp>
      <p:sp>
        <p:nvSpPr>
          <p:cNvPr id="12" name="Text 10"/>
          <p:cNvSpPr/>
          <p:nvPr/>
        </p:nvSpPr>
        <p:spPr>
          <a:xfrm>
            <a:off x="4572000" y="1737360"/>
            <a:ext cx="1920240" cy="457200"/>
          </a:xfrm>
          <a:prstGeom prst="rect">
            <a:avLst/>
          </a:prstGeom>
          <a:noFill/>
          <a:ln/>
        </p:spPr>
        <p:txBody>
          <a:bodyPr wrap="square" rtlCol="0" anchor="ctr"/>
          <a:lstStyle/>
          <a:p>
            <a:pPr marL="0" indent="0" algn="ctr">
              <a:buNone/>
            </a:pPr>
            <a:r>
              <a:rPr lang="en-US" sz="950" dirty="0">
                <a:solidFill>
                  <a:srgbClr val="D6E4FF"/>
                </a:solidFill>
                <a:latin typeface="Calibri" pitchFamily="34" charset="0"/>
                <a:ea typeface="Calibri" pitchFamily="34" charset="-122"/>
                <a:cs typeface="Calibri" pitchFamily="34" charset="-120"/>
              </a:rPr>
              <a:t>Users Above Average Rate</a:t>
            </a:r>
            <a:endParaRPr lang="en-US" sz="950" dirty="0"/>
          </a:p>
        </p:txBody>
      </p:sp>
      <p:sp>
        <p:nvSpPr>
          <p:cNvPr id="13" name="Shape 11"/>
          <p:cNvSpPr/>
          <p:nvPr/>
        </p:nvSpPr>
        <p:spPr>
          <a:xfrm>
            <a:off x="6675120" y="1097280"/>
            <a:ext cx="1920240" cy="1188720"/>
          </a:xfrm>
          <a:prstGeom prst="roundRect">
            <a:avLst>
              <a:gd name="adj" fmla="val 7692"/>
            </a:avLst>
          </a:prstGeom>
          <a:solidFill>
            <a:srgbClr val="1A3A6B"/>
          </a:solidFill>
          <a:ln/>
          <a:effectLst>
            <a:outerShdw blurRad="101600" dist="38100" dir="2700000" algn="bl" rotWithShape="0">
              <a:srgbClr val="000000">
                <a:alpha val="12000"/>
              </a:srgbClr>
            </a:outerShdw>
          </a:effectLst>
        </p:spPr>
      </p:sp>
      <p:sp>
        <p:nvSpPr>
          <p:cNvPr id="14" name="Text 12"/>
          <p:cNvSpPr/>
          <p:nvPr/>
        </p:nvSpPr>
        <p:spPr>
          <a:xfrm>
            <a:off x="6675120" y="1143000"/>
            <a:ext cx="1920240" cy="658368"/>
          </a:xfrm>
          <a:prstGeom prst="rect">
            <a:avLst/>
          </a:prstGeom>
          <a:noFill/>
          <a:ln/>
        </p:spPr>
        <p:txBody>
          <a:bodyPr wrap="square" rtlCol="0" anchor="ctr"/>
          <a:lstStyle/>
          <a:p>
            <a:pPr marL="0" indent="0" algn="ctr">
              <a:buNone/>
            </a:pPr>
            <a:r>
              <a:rPr lang="en-US" sz="2200" b="1" dirty="0">
                <a:solidFill>
                  <a:srgbClr val="F5A623"/>
                </a:solidFill>
                <a:latin typeface="Calibri" pitchFamily="34" charset="0"/>
                <a:ea typeface="Calibri" pitchFamily="34" charset="-122"/>
                <a:cs typeface="Calibri" pitchFamily="34" charset="-120"/>
              </a:rPr>
              <a:t>18</a:t>
            </a:r>
            <a:endParaRPr lang="en-US" sz="2200" dirty="0"/>
          </a:p>
        </p:txBody>
      </p:sp>
      <p:sp>
        <p:nvSpPr>
          <p:cNvPr id="15" name="Text 13"/>
          <p:cNvSpPr/>
          <p:nvPr/>
        </p:nvSpPr>
        <p:spPr>
          <a:xfrm>
            <a:off x="6675120" y="1737360"/>
            <a:ext cx="1920240" cy="457200"/>
          </a:xfrm>
          <a:prstGeom prst="rect">
            <a:avLst/>
          </a:prstGeom>
          <a:noFill/>
          <a:ln/>
        </p:spPr>
        <p:txBody>
          <a:bodyPr wrap="square" rtlCol="0" anchor="ctr"/>
          <a:lstStyle/>
          <a:p>
            <a:pPr marL="0" indent="0" algn="ctr">
              <a:buNone/>
            </a:pPr>
            <a:r>
              <a:rPr lang="en-US" sz="950" dirty="0">
                <a:solidFill>
                  <a:srgbClr val="D6E4FF"/>
                </a:solidFill>
                <a:latin typeface="Calibri" pitchFamily="34" charset="0"/>
                <a:ea typeface="Calibri" pitchFamily="34" charset="-122"/>
                <a:cs typeface="Calibri" pitchFamily="34" charset="-120"/>
              </a:rPr>
              <a:t>Users with Rate &gt; 100</a:t>
            </a:r>
            <a:endParaRPr lang="en-US" sz="950" dirty="0"/>
          </a:p>
        </p:txBody>
      </p:sp>
      <p:sp>
        <p:nvSpPr>
          <p:cNvPr id="16" name="Text 14"/>
          <p:cNvSpPr/>
          <p:nvPr/>
        </p:nvSpPr>
        <p:spPr>
          <a:xfrm>
            <a:off x="365760" y="2423160"/>
            <a:ext cx="841248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Top Users — Total Engagement (Likes + Comments)</a:t>
            </a:r>
            <a:endParaRPr lang="en-US" sz="1300" dirty="0"/>
          </a:p>
        </p:txBody>
      </p:sp>
      <p:graphicFrame>
        <p:nvGraphicFramePr>
          <p:cNvPr id="17" name="Chart 0"/>
          <p:cNvGraphicFramePr/>
          <p:nvPr/>
        </p:nvGraphicFramePr>
        <p:xfrm>
          <a:off x="365760" y="2788920"/>
          <a:ext cx="8412480" cy="2148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850"/>
          </a:solidFill>
          <a:ln w="12700">
            <a:solidFill>
              <a:srgbClr val="112850"/>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User Classification</a:t>
            </a:r>
            <a:endParaRPr lang="en-US" sz="3000" dirty="0"/>
          </a:p>
        </p:txBody>
      </p:sp>
      <p:sp>
        <p:nvSpPr>
          <p:cNvPr id="4" name="Shape 2"/>
          <p:cNvSpPr/>
          <p:nvPr/>
        </p:nvSpPr>
        <p:spPr>
          <a:xfrm>
            <a:off x="365760" y="1143000"/>
            <a:ext cx="2651760" cy="1920240"/>
          </a:xfrm>
          <a:prstGeom prst="roundRect">
            <a:avLst>
              <a:gd name="adj" fmla="val 5714"/>
            </a:avLst>
          </a:prstGeom>
          <a:solidFill>
            <a:srgbClr val="27AE60"/>
          </a:solidFill>
          <a:ln/>
          <a:effectLst>
            <a:outerShdw blurRad="101600" dist="38100" dir="2700000" algn="bl" rotWithShape="0">
              <a:srgbClr val="000000">
                <a:alpha val="12000"/>
              </a:srgbClr>
            </a:outerShdw>
          </a:effectLst>
        </p:spPr>
      </p:sp>
      <p:sp>
        <p:nvSpPr>
          <p:cNvPr id="5" name="Text 3"/>
          <p:cNvSpPr/>
          <p:nvPr/>
        </p:nvSpPr>
        <p:spPr>
          <a:xfrm>
            <a:off x="365760" y="1188720"/>
            <a:ext cx="26517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Highly Engaged</a:t>
            </a:r>
            <a:endParaRPr lang="en-US" sz="1300" dirty="0"/>
          </a:p>
        </p:txBody>
      </p:sp>
      <p:sp>
        <p:nvSpPr>
          <p:cNvPr id="6" name="Text 4"/>
          <p:cNvSpPr/>
          <p:nvPr/>
        </p:nvSpPr>
        <p:spPr>
          <a:xfrm>
            <a:off x="365760" y="1645920"/>
            <a:ext cx="2651760" cy="5943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43 Users</a:t>
            </a:r>
            <a:endParaRPr lang="en-US" sz="3200" dirty="0"/>
          </a:p>
        </p:txBody>
      </p:sp>
      <p:sp>
        <p:nvSpPr>
          <p:cNvPr id="7" name="Text 5"/>
          <p:cNvSpPr/>
          <p:nvPr/>
        </p:nvSpPr>
        <p:spPr>
          <a:xfrm>
            <a:off x="365760" y="2240280"/>
            <a:ext cx="2651760" cy="594360"/>
          </a:xfrm>
          <a:prstGeom prst="rect">
            <a:avLst/>
          </a:prstGeom>
          <a:noFill/>
          <a:ln/>
        </p:spPr>
        <p:txBody>
          <a:bodyPr wrap="square" rtlCol="0" anchor="ctr"/>
          <a:lstStyle/>
          <a:p>
            <a:pPr marL="0" indent="0" algn="ctr">
              <a:buNone/>
            </a:pPr>
            <a:r>
              <a:rPr lang="en-US" sz="1000" dirty="0">
                <a:solidFill>
                  <a:srgbClr val="D5F5E3"/>
                </a:solidFill>
                <a:latin typeface="Calibri" pitchFamily="34" charset="0"/>
                <a:ea typeface="Calibri" pitchFamily="34" charset="-122"/>
                <a:cs typeface="Calibri" pitchFamily="34" charset="-120"/>
              </a:rPr>
              <a:t>&gt;150 total engagements</a:t>
            </a:r>
            <a:endParaRPr lang="en-US" sz="1000" dirty="0"/>
          </a:p>
        </p:txBody>
      </p:sp>
      <p:sp>
        <p:nvSpPr>
          <p:cNvPr id="8" name="Shape 6"/>
          <p:cNvSpPr/>
          <p:nvPr/>
        </p:nvSpPr>
        <p:spPr>
          <a:xfrm>
            <a:off x="3246120" y="1143000"/>
            <a:ext cx="2651760" cy="1920240"/>
          </a:xfrm>
          <a:prstGeom prst="roundRect">
            <a:avLst>
              <a:gd name="adj" fmla="val 5714"/>
            </a:avLst>
          </a:prstGeom>
          <a:solidFill>
            <a:srgbClr val="2980B9"/>
          </a:solidFill>
          <a:ln/>
          <a:effectLst>
            <a:outerShdw blurRad="101600" dist="38100" dir="2700000" algn="bl" rotWithShape="0">
              <a:srgbClr val="000000">
                <a:alpha val="12000"/>
              </a:srgbClr>
            </a:outerShdw>
          </a:effectLst>
        </p:spPr>
      </p:sp>
      <p:sp>
        <p:nvSpPr>
          <p:cNvPr id="9" name="Text 7"/>
          <p:cNvSpPr/>
          <p:nvPr/>
        </p:nvSpPr>
        <p:spPr>
          <a:xfrm>
            <a:off x="3246120" y="1188720"/>
            <a:ext cx="26517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Moderately Engaged</a:t>
            </a:r>
            <a:endParaRPr lang="en-US" sz="1300" dirty="0"/>
          </a:p>
        </p:txBody>
      </p:sp>
      <p:sp>
        <p:nvSpPr>
          <p:cNvPr id="10" name="Text 8"/>
          <p:cNvSpPr/>
          <p:nvPr/>
        </p:nvSpPr>
        <p:spPr>
          <a:xfrm>
            <a:off x="3246120" y="1645920"/>
            <a:ext cx="2651760" cy="5943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34 Users</a:t>
            </a:r>
            <a:endParaRPr lang="en-US" sz="3200" dirty="0"/>
          </a:p>
        </p:txBody>
      </p:sp>
      <p:sp>
        <p:nvSpPr>
          <p:cNvPr id="11" name="Text 9"/>
          <p:cNvSpPr/>
          <p:nvPr/>
        </p:nvSpPr>
        <p:spPr>
          <a:xfrm>
            <a:off x="3246120" y="2240280"/>
            <a:ext cx="2651760" cy="594360"/>
          </a:xfrm>
          <a:prstGeom prst="rect">
            <a:avLst/>
          </a:prstGeom>
          <a:noFill/>
          <a:ln/>
        </p:spPr>
        <p:txBody>
          <a:bodyPr wrap="square" rtlCol="0" anchor="ctr"/>
          <a:lstStyle/>
          <a:p>
            <a:pPr marL="0" indent="0" algn="ctr">
              <a:buNone/>
            </a:pPr>
            <a:r>
              <a:rPr lang="en-US" sz="1000" dirty="0">
                <a:solidFill>
                  <a:srgbClr val="D5F5E3"/>
                </a:solidFill>
                <a:latin typeface="Calibri" pitchFamily="34" charset="0"/>
                <a:ea typeface="Calibri" pitchFamily="34" charset="-122"/>
                <a:cs typeface="Calibri" pitchFamily="34" charset="-120"/>
              </a:rPr>
              <a:t>100–150 total engagements</a:t>
            </a:r>
            <a:endParaRPr lang="en-US" sz="1000" dirty="0"/>
          </a:p>
        </p:txBody>
      </p:sp>
      <p:sp>
        <p:nvSpPr>
          <p:cNvPr id="12" name="Shape 10"/>
          <p:cNvSpPr/>
          <p:nvPr/>
        </p:nvSpPr>
        <p:spPr>
          <a:xfrm>
            <a:off x="6126480" y="1143000"/>
            <a:ext cx="2651760" cy="1920240"/>
          </a:xfrm>
          <a:prstGeom prst="roundRect">
            <a:avLst>
              <a:gd name="adj" fmla="val 5714"/>
            </a:avLst>
          </a:prstGeom>
          <a:solidFill>
            <a:srgbClr val="8E44AD"/>
          </a:solidFill>
          <a:ln/>
          <a:effectLst>
            <a:outerShdw blurRad="101600" dist="38100" dir="2700000" algn="bl" rotWithShape="0">
              <a:srgbClr val="000000">
                <a:alpha val="12000"/>
              </a:srgbClr>
            </a:outerShdw>
          </a:effectLst>
        </p:spPr>
      </p:sp>
      <p:sp>
        <p:nvSpPr>
          <p:cNvPr id="13" name="Text 11"/>
          <p:cNvSpPr/>
          <p:nvPr/>
        </p:nvSpPr>
        <p:spPr>
          <a:xfrm>
            <a:off x="6126480" y="1188720"/>
            <a:ext cx="26517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Less Engaged</a:t>
            </a:r>
            <a:endParaRPr lang="en-US" sz="1300" dirty="0"/>
          </a:p>
        </p:txBody>
      </p:sp>
      <p:sp>
        <p:nvSpPr>
          <p:cNvPr id="14" name="Text 12"/>
          <p:cNvSpPr/>
          <p:nvPr/>
        </p:nvSpPr>
        <p:spPr>
          <a:xfrm>
            <a:off x="6126480" y="1645920"/>
            <a:ext cx="2651760" cy="5943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23 Users</a:t>
            </a:r>
            <a:endParaRPr lang="en-US" sz="3200" dirty="0"/>
          </a:p>
        </p:txBody>
      </p:sp>
      <p:sp>
        <p:nvSpPr>
          <p:cNvPr id="15" name="Text 13"/>
          <p:cNvSpPr/>
          <p:nvPr/>
        </p:nvSpPr>
        <p:spPr>
          <a:xfrm>
            <a:off x="6126480" y="2240280"/>
            <a:ext cx="2651760" cy="594360"/>
          </a:xfrm>
          <a:prstGeom prst="rect">
            <a:avLst/>
          </a:prstGeom>
          <a:noFill/>
          <a:ln/>
        </p:spPr>
        <p:txBody>
          <a:bodyPr wrap="square" rtlCol="0" anchor="ctr"/>
          <a:lstStyle/>
          <a:p>
            <a:pPr marL="0" indent="0" algn="ctr">
              <a:buNone/>
            </a:pPr>
            <a:r>
              <a:rPr lang="en-US" sz="1000" dirty="0">
                <a:solidFill>
                  <a:srgbClr val="D5F5E3"/>
                </a:solidFill>
                <a:latin typeface="Calibri" pitchFamily="34" charset="0"/>
                <a:ea typeface="Calibri" pitchFamily="34" charset="-122"/>
                <a:cs typeface="Calibri" pitchFamily="34" charset="-120"/>
              </a:rPr>
              <a:t>&lt;100 total engagements</a:t>
            </a:r>
            <a:endParaRPr lang="en-US" sz="1000" dirty="0"/>
          </a:p>
        </p:txBody>
      </p:sp>
      <p:sp>
        <p:nvSpPr>
          <p:cNvPr id="16" name="Text 14"/>
          <p:cNvSpPr/>
          <p:nvPr/>
        </p:nvSpPr>
        <p:spPr>
          <a:xfrm>
            <a:off x="365760" y="3154680"/>
            <a:ext cx="41148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User Segmentation Distribution</a:t>
            </a:r>
            <a:endParaRPr lang="en-US" sz="1300" dirty="0"/>
          </a:p>
        </p:txBody>
      </p:sp>
      <p:graphicFrame>
        <p:nvGraphicFramePr>
          <p:cNvPr id="17" name="Chart 0"/>
          <p:cNvGraphicFramePr/>
          <p:nvPr/>
        </p:nvGraphicFramePr>
        <p:xfrm>
          <a:off x="365760" y="3520440"/>
          <a:ext cx="411480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4846320" y="3154680"/>
            <a:ext cx="393192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Old vs New Users</a:t>
            </a:r>
            <a:endParaRPr lang="en-US" sz="1300" dirty="0"/>
          </a:p>
        </p:txBody>
      </p:sp>
      <p:graphicFrame>
        <p:nvGraphicFramePr>
          <p:cNvPr id="19" name="Chart 1"/>
          <p:cNvGraphicFramePr/>
          <p:nvPr/>
        </p:nvGraphicFramePr>
        <p:xfrm>
          <a:off x="4846320" y="3493008"/>
          <a:ext cx="3931920" cy="15087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Content Performance</a:t>
            </a:r>
            <a:endParaRPr lang="en-US" sz="3000" dirty="0"/>
          </a:p>
        </p:txBody>
      </p:sp>
      <p:sp>
        <p:nvSpPr>
          <p:cNvPr id="4" name="Text 2"/>
          <p:cNvSpPr/>
          <p:nvPr/>
        </p:nvSpPr>
        <p:spPr>
          <a:xfrm>
            <a:off x="365760" y="1097280"/>
            <a:ext cx="420624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Key Hashtag Insights</a:t>
            </a:r>
            <a:endParaRPr lang="en-US" sz="1300" dirty="0"/>
          </a:p>
        </p:txBody>
      </p:sp>
      <p:sp>
        <p:nvSpPr>
          <p:cNvPr id="5" name="Text 3"/>
          <p:cNvSpPr/>
          <p:nvPr/>
        </p:nvSpPr>
        <p:spPr>
          <a:xfrm>
            <a:off x="365760" y="1463040"/>
            <a:ext cx="4206240" cy="3383280"/>
          </a:xfrm>
          <a:prstGeom prst="rect">
            <a:avLst/>
          </a:prstGeom>
          <a:noFill/>
          <a:ln/>
        </p:spPr>
        <p:txBody>
          <a:bodyPr wrap="square" rtlCol="0" anchor="ctr"/>
          <a:lstStyle/>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'dreamy' tag leads with 35.75 avg likes per post</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'beauty', 'stunning', 'delicious', 'foodie' all close behind (~34.7–35.0 avg likes)</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Top tags by total posts used: smile (59), beach (42), party (39), fun (38)</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Popular tags to be promoted through influencer collabs and Explore page</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Contents related to top tags should be frequently shown on users' Explore pages</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Tags other than 'dreamy' have similar avg likes — all should be optimised</a:t>
            </a:r>
            <a:endParaRPr lang="en-US" sz="1100" dirty="0"/>
          </a:p>
        </p:txBody>
      </p:sp>
      <p:sp>
        <p:nvSpPr>
          <p:cNvPr id="6" name="Text 4"/>
          <p:cNvSpPr/>
          <p:nvPr/>
        </p:nvSpPr>
        <p:spPr>
          <a:xfrm>
            <a:off x="4846320" y="1097280"/>
            <a:ext cx="393192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Top Hashtags by Avg Likes/Post</a:t>
            </a:r>
            <a:endParaRPr lang="en-US" sz="1300" dirty="0"/>
          </a:p>
        </p:txBody>
      </p:sp>
      <p:graphicFrame>
        <p:nvGraphicFramePr>
          <p:cNvPr id="7" name="Chart 0"/>
          <p:cNvGraphicFramePr/>
          <p:nvPr/>
        </p:nvGraphicFramePr>
        <p:xfrm>
          <a:off x="4663440" y="1444752"/>
          <a:ext cx="4206240" cy="3429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Content Performance — UGC Targets</a:t>
            </a:r>
            <a:endParaRPr lang="en-US" sz="3000" dirty="0"/>
          </a:p>
        </p:txBody>
      </p:sp>
      <p:sp>
        <p:nvSpPr>
          <p:cNvPr id="4" name="Text 2"/>
          <p:cNvSpPr/>
          <p:nvPr/>
        </p:nvSpPr>
        <p:spPr>
          <a:xfrm>
            <a:off x="365760" y="1097280"/>
            <a:ext cx="420624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Top Hashtags for Ad Campaigns</a:t>
            </a:r>
            <a:endParaRPr lang="en-US" sz="1300" dirty="0"/>
          </a:p>
        </p:txBody>
      </p:sp>
      <p:sp>
        <p:nvSpPr>
          <p:cNvPr id="5" name="Text 3"/>
          <p:cNvSpPr/>
          <p:nvPr/>
        </p:nvSpPr>
        <p:spPr>
          <a:xfrm>
            <a:off x="365760" y="1463040"/>
            <a:ext cx="4206240" cy="3383280"/>
          </a:xfrm>
          <a:prstGeom prst="rect">
            <a:avLst/>
          </a:prstGeom>
          <a:noFill/>
          <a:ln/>
        </p:spPr>
        <p:txBody>
          <a:bodyPr wrap="square" rtlCol="0" anchor="ctr"/>
          <a:lstStyle/>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'smile' drives the most total engagement (3,758 likes+comments), followed by 'beach' (2,664) and 'party' (2,474)</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These four tags — smile, beach, party, fun — account for the largest share of UGC volume and engagement combined</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Ad campaigns and influencer collabs built around these tags reach the largest, most-engaged content pool</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Newton School feedback: added this chart to make the UGC targeting claim measurable instead of purely descriptive</a:t>
            </a:r>
            <a:endParaRPr lang="en-US" sz="1100" dirty="0"/>
          </a:p>
        </p:txBody>
      </p:sp>
      <p:sp>
        <p:nvSpPr>
          <p:cNvPr id="6" name="Text 4"/>
          <p:cNvSpPr/>
          <p:nvPr/>
        </p:nvSpPr>
        <p:spPr>
          <a:xfrm>
            <a:off x="4846320" y="1097280"/>
            <a:ext cx="393192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Total Engagement by Hashtag (Top 10)</a:t>
            </a:r>
            <a:endParaRPr lang="en-US" sz="1300" dirty="0"/>
          </a:p>
        </p:txBody>
      </p:sp>
      <p:pic>
        <p:nvPicPr>
          <p:cNvPr id="7" name="Picture 0"/>
          <p:cNvPicPr>
            <a:picLocks noChangeAspect="1"/>
          </p:cNvPicPr>
          <p:nvPr/>
        </p:nvPicPr>
        <p:blipFill>
          <a:blip r:embed="rId2"/>
          <a:stretch>
            <a:fillRect/>
          </a:stretch>
        </p:blipFill>
        <p:spPr>
          <a:xfrm>
            <a:off x="4663440" y="1600000"/>
            <a:ext cx="4206240" cy="22611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Advertisement Strategy</a:t>
            </a:r>
            <a:endParaRPr lang="en-US" sz="3000" dirty="0"/>
          </a:p>
        </p:txBody>
      </p:sp>
      <p:sp>
        <p:nvSpPr>
          <p:cNvPr id="4" name="Shape 2"/>
          <p:cNvSpPr/>
          <p:nvPr/>
        </p:nvSpPr>
        <p:spPr>
          <a:xfrm>
            <a:off x="365760" y="1143000"/>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5" name="Text 3"/>
          <p:cNvSpPr/>
          <p:nvPr/>
        </p:nvSpPr>
        <p:spPr>
          <a:xfrm>
            <a:off x="475488" y="1216152"/>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6" name="Text 4"/>
          <p:cNvSpPr/>
          <p:nvPr/>
        </p:nvSpPr>
        <p:spPr>
          <a:xfrm>
            <a:off x="1170432" y="1216152"/>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Category-Based Ad Campaigns</a:t>
            </a:r>
            <a:endParaRPr lang="en-US" sz="1200" dirty="0"/>
          </a:p>
        </p:txBody>
      </p:sp>
      <p:sp>
        <p:nvSpPr>
          <p:cNvPr id="7" name="Text 5"/>
          <p:cNvSpPr/>
          <p:nvPr/>
        </p:nvSpPr>
        <p:spPr>
          <a:xfrm>
            <a:off x="1170432" y="1536192"/>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Run separate ad campaigns for Highly Engaged, Moderately Engaged, and Less Engaged user segments.</a:t>
            </a:r>
            <a:endParaRPr lang="en-US" sz="1000" dirty="0"/>
          </a:p>
        </p:txBody>
      </p:sp>
      <p:sp>
        <p:nvSpPr>
          <p:cNvPr id="8" name="Shape 6"/>
          <p:cNvSpPr/>
          <p:nvPr/>
        </p:nvSpPr>
        <p:spPr>
          <a:xfrm>
            <a:off x="4846320" y="1143000"/>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9" name="Text 7"/>
          <p:cNvSpPr/>
          <p:nvPr/>
        </p:nvSpPr>
        <p:spPr>
          <a:xfrm>
            <a:off x="4956048" y="1216152"/>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5650992" y="1216152"/>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Personalised Content &amp; Ads</a:t>
            </a:r>
            <a:endParaRPr lang="en-US" sz="1200" dirty="0"/>
          </a:p>
        </p:txBody>
      </p:sp>
      <p:sp>
        <p:nvSpPr>
          <p:cNvPr id="11" name="Text 9"/>
          <p:cNvSpPr/>
          <p:nvPr/>
        </p:nvSpPr>
        <p:spPr>
          <a:xfrm>
            <a:off x="5650992" y="1536192"/>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Utilise user data (likes, comments, hashtag usage) to deliver personalised ads and curated content feeds.</a:t>
            </a:r>
            <a:endParaRPr lang="en-US" sz="1000" dirty="0"/>
          </a:p>
        </p:txBody>
      </p:sp>
      <p:sp>
        <p:nvSpPr>
          <p:cNvPr id="12" name="Shape 10"/>
          <p:cNvSpPr/>
          <p:nvPr/>
        </p:nvSpPr>
        <p:spPr>
          <a:xfrm>
            <a:off x="365760" y="2441448"/>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13" name="Text 11"/>
          <p:cNvSpPr/>
          <p:nvPr/>
        </p:nvSpPr>
        <p:spPr>
          <a:xfrm>
            <a:off x="475488" y="2514600"/>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1170432" y="2514600"/>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Smart Notifications</a:t>
            </a:r>
            <a:endParaRPr lang="en-US" sz="1200" dirty="0"/>
          </a:p>
        </p:txBody>
      </p:sp>
      <p:sp>
        <p:nvSpPr>
          <p:cNvPr id="15" name="Text 13"/>
          <p:cNvSpPr/>
          <p:nvPr/>
        </p:nvSpPr>
        <p:spPr>
          <a:xfrm>
            <a:off x="1170432" y="2834640"/>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Notifications and recommendations based on the content users follow and interact with most frequently.</a:t>
            </a:r>
            <a:endParaRPr lang="en-US" sz="1000" dirty="0"/>
          </a:p>
        </p:txBody>
      </p:sp>
      <p:sp>
        <p:nvSpPr>
          <p:cNvPr id="16" name="Shape 14"/>
          <p:cNvSpPr/>
          <p:nvPr/>
        </p:nvSpPr>
        <p:spPr>
          <a:xfrm>
            <a:off x="4846320" y="2441448"/>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17" name="Text 15"/>
          <p:cNvSpPr/>
          <p:nvPr/>
        </p:nvSpPr>
        <p:spPr>
          <a:xfrm>
            <a:off x="4956048" y="2514600"/>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5650992" y="2514600"/>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Influencer Collaborations</a:t>
            </a:r>
            <a:endParaRPr lang="en-US" sz="1200" dirty="0"/>
          </a:p>
        </p:txBody>
      </p:sp>
      <p:sp>
        <p:nvSpPr>
          <p:cNvPr id="19" name="Text 17"/>
          <p:cNvSpPr/>
          <p:nvPr/>
        </p:nvSpPr>
        <p:spPr>
          <a:xfrm>
            <a:off x="5650992" y="2834640"/>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Collaborate with Highly Engaged users to promote platform activity and encourage re-engagement.</a:t>
            </a:r>
            <a:endParaRPr lang="en-US" sz="1000" dirty="0"/>
          </a:p>
        </p:txBody>
      </p:sp>
      <p:sp>
        <p:nvSpPr>
          <p:cNvPr id="20" name="Shape 18"/>
          <p:cNvSpPr/>
          <p:nvPr/>
        </p:nvSpPr>
        <p:spPr>
          <a:xfrm>
            <a:off x="365760" y="3739896"/>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21" name="Text 19"/>
          <p:cNvSpPr/>
          <p:nvPr/>
        </p:nvSpPr>
        <p:spPr>
          <a:xfrm>
            <a:off x="475488" y="3813048"/>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2" name="Text 20"/>
          <p:cNvSpPr/>
          <p:nvPr/>
        </p:nvSpPr>
        <p:spPr>
          <a:xfrm>
            <a:off x="1170432" y="3813048"/>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Campaign Measurement</a:t>
            </a:r>
            <a:endParaRPr lang="en-US" sz="1200" dirty="0"/>
          </a:p>
        </p:txBody>
      </p:sp>
      <p:sp>
        <p:nvSpPr>
          <p:cNvPr id="23" name="Text 21"/>
          <p:cNvSpPr/>
          <p:nvPr/>
        </p:nvSpPr>
        <p:spPr>
          <a:xfrm>
            <a:off x="1170432" y="4133088"/>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Track CTR, conversion rate, and ROAS. Identify low-performing campaigns and substitute or optimise them.</a:t>
            </a:r>
            <a:endParaRPr lang="en-US" sz="1000" dirty="0"/>
          </a:p>
        </p:txBody>
      </p:sp>
      <p:sp>
        <p:nvSpPr>
          <p:cNvPr id="24" name="Shape 22"/>
          <p:cNvSpPr/>
          <p:nvPr/>
        </p:nvSpPr>
        <p:spPr>
          <a:xfrm>
            <a:off x="4846320" y="3739896"/>
            <a:ext cx="4206240" cy="1170432"/>
          </a:xfrm>
          <a:prstGeom prst="roundRect">
            <a:avLst>
              <a:gd name="adj" fmla="val 7813"/>
            </a:avLst>
          </a:prstGeom>
          <a:solidFill>
            <a:srgbClr val="FFFFFF"/>
          </a:solidFill>
          <a:ln/>
          <a:effectLst>
            <a:outerShdw blurRad="101600" dist="38100" dir="2700000" algn="bl" rotWithShape="0">
              <a:srgbClr val="000000">
                <a:alpha val="12000"/>
              </a:srgbClr>
            </a:outerShdw>
          </a:effectLst>
        </p:spPr>
      </p:sp>
      <p:sp>
        <p:nvSpPr>
          <p:cNvPr id="25" name="Text 23"/>
          <p:cNvSpPr/>
          <p:nvPr/>
        </p:nvSpPr>
        <p:spPr>
          <a:xfrm>
            <a:off x="4956048" y="3813048"/>
            <a:ext cx="64008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6" name="Text 24"/>
          <p:cNvSpPr/>
          <p:nvPr/>
        </p:nvSpPr>
        <p:spPr>
          <a:xfrm>
            <a:off x="5650992" y="3813048"/>
            <a:ext cx="3291840" cy="320040"/>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Brand Ambassador Program</a:t>
            </a:r>
            <a:endParaRPr lang="en-US" sz="1200" dirty="0"/>
          </a:p>
        </p:txBody>
      </p:sp>
      <p:sp>
        <p:nvSpPr>
          <p:cNvPr id="27" name="Text 25"/>
          <p:cNvSpPr/>
          <p:nvPr/>
        </p:nvSpPr>
        <p:spPr>
          <a:xfrm>
            <a:off x="5650992" y="4133088"/>
            <a:ext cx="3291840" cy="685800"/>
          </a:xfrm>
          <a:prstGeom prst="rect">
            <a:avLst/>
          </a:prstGeom>
          <a:noFill/>
          <a:ln/>
        </p:spPr>
        <p:txBody>
          <a:bodyPr wrap="square" rtlCol="0" anchor="ctr"/>
          <a:lstStyle/>
          <a:p>
            <a:pPr marL="0" indent="0">
              <a:buNone/>
            </a:pPr>
            <a:r>
              <a:rPr lang="en-US" sz="1000" dirty="0">
                <a:solidFill>
                  <a:srgbClr val="5A6A8A"/>
                </a:solidFill>
                <a:latin typeface="Calibri" pitchFamily="34" charset="0"/>
                <a:ea typeface="Calibri" pitchFamily="34" charset="-122"/>
                <a:cs typeface="Calibri" pitchFamily="34" charset="-120"/>
              </a:rPr>
              <a:t>Users with engagement &gt;150 AND followers &gt;50 are ideal Top Ambassador Candidates for brand advocacy.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Engagement Correlation Analysis</a:t>
            </a:r>
            <a:endParaRPr lang="en-US" sz="3000" dirty="0"/>
          </a:p>
        </p:txBody>
      </p:sp>
      <p:sp>
        <p:nvSpPr>
          <p:cNvPr id="4" name="Text 2"/>
          <p:cNvSpPr/>
          <p:nvPr/>
        </p:nvSpPr>
        <p:spPr>
          <a:xfrm>
            <a:off x="365760" y="1097280"/>
            <a:ext cx="420624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Does Content Type Predict Engagement?</a:t>
            </a:r>
            <a:endParaRPr lang="en-US" sz="1300" dirty="0"/>
          </a:p>
        </p:txBody>
      </p:sp>
      <p:sp>
        <p:nvSpPr>
          <p:cNvPr id="5" name="Text 3"/>
          <p:cNvSpPr/>
          <p:nvPr/>
        </p:nvSpPr>
        <p:spPr>
          <a:xfrm>
            <a:off x="365760" y="1463040"/>
            <a:ext cx="4206240" cy="3383280"/>
          </a:xfrm>
          <a:prstGeom prst="rect">
            <a:avLst/>
          </a:prstGeom>
          <a:noFill/>
          <a:ln/>
        </p:spPr>
        <p:txBody>
          <a:bodyPr wrap="square" rtlCol="0" anchor="ctr"/>
          <a:lstStyle/>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Plotted each hashtag's usage volume against its avg. engagement per post to test the correlation directly</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Result: r ≈ -0.23 — a weak, slightly negative correlation, not the strong link often assumed</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Engagement per post is fairly consistent (~62–65) across both niche and high-volume tags</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Implication: optimise content strategy for reach (high-volume tags) and timing/quality — not for chasing a specific 'high-engagement' content type</a:t>
            </a:r>
            <a:endParaRPr lang="en-US" sz="1100" dirty="0"/>
          </a:p>
        </p:txBody>
      </p:sp>
      <p:sp>
        <p:nvSpPr>
          <p:cNvPr id="6" name="Text 4"/>
          <p:cNvSpPr/>
          <p:nvPr/>
        </p:nvSpPr>
        <p:spPr>
          <a:xfrm>
            <a:off x="4846320" y="1097280"/>
            <a:ext cx="393192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Hashtag Usage vs. Avg. Engagement/Post</a:t>
            </a:r>
            <a:endParaRPr lang="en-US" sz="1300" dirty="0"/>
          </a:p>
        </p:txBody>
      </p:sp>
      <p:pic>
        <p:nvPicPr>
          <p:cNvPr id="7" name="Picture 0"/>
          <p:cNvPicPr>
            <a:picLocks noChangeAspect="1"/>
          </p:cNvPicPr>
          <p:nvPr/>
        </p:nvPicPr>
        <p:blipFill>
          <a:blip r:embed="rId2"/>
          <a:stretch>
            <a:fillRect/>
          </a:stretch>
        </p:blipFill>
        <p:spPr>
          <a:xfrm>
            <a:off x="4550000" y="1600000"/>
            <a:ext cx="4400000" cy="238376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850"/>
          </a:solidFill>
          <a:ln w="12700">
            <a:solidFill>
              <a:srgbClr val="112850"/>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Campaigns &amp; Projections</a:t>
            </a:r>
            <a:endParaRPr lang="en-US" sz="3000" dirty="0"/>
          </a:p>
        </p:txBody>
      </p:sp>
      <p:sp>
        <p:nvSpPr>
          <p:cNvPr id="4" name="Text 2"/>
          <p:cNvSpPr/>
          <p:nvPr/>
        </p:nvSpPr>
        <p:spPr>
          <a:xfrm>
            <a:off x="457200" y="1143000"/>
            <a:ext cx="3840480" cy="320040"/>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Action Plan</a:t>
            </a:r>
            <a:endParaRPr lang="en-US" sz="1300" dirty="0"/>
          </a:p>
        </p:txBody>
      </p:sp>
      <p:sp>
        <p:nvSpPr>
          <p:cNvPr id="5" name="Shape 3"/>
          <p:cNvSpPr/>
          <p:nvPr/>
        </p:nvSpPr>
        <p:spPr>
          <a:xfrm>
            <a:off x="457200" y="1572768"/>
            <a:ext cx="256032" cy="256032"/>
          </a:xfrm>
          <a:prstGeom prst="ellipse">
            <a:avLst/>
          </a:prstGeom>
          <a:solidFill>
            <a:srgbClr val="F5A623"/>
          </a:solidFill>
          <a:ln w="12700">
            <a:solidFill>
              <a:srgbClr val="F5A623"/>
            </a:solidFill>
            <a:prstDash val="solid"/>
          </a:ln>
        </p:spPr>
      </p:sp>
      <p:sp>
        <p:nvSpPr>
          <p:cNvPr id="6" name="Text 4"/>
          <p:cNvSpPr/>
          <p:nvPr/>
        </p:nvSpPr>
        <p:spPr>
          <a:xfrm>
            <a:off x="804672" y="1536192"/>
            <a:ext cx="3657600" cy="62179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Target audience based on user categories and browsed content</a:t>
            </a:r>
            <a:endParaRPr lang="en-US" sz="1000" dirty="0"/>
          </a:p>
        </p:txBody>
      </p:sp>
      <p:sp>
        <p:nvSpPr>
          <p:cNvPr id="7" name="Shape 5"/>
          <p:cNvSpPr/>
          <p:nvPr/>
        </p:nvSpPr>
        <p:spPr>
          <a:xfrm>
            <a:off x="457200" y="2258568"/>
            <a:ext cx="256032" cy="256032"/>
          </a:xfrm>
          <a:prstGeom prst="ellipse">
            <a:avLst/>
          </a:prstGeom>
          <a:solidFill>
            <a:srgbClr val="F5A623"/>
          </a:solidFill>
          <a:ln w="12700">
            <a:solidFill>
              <a:srgbClr val="F5A623"/>
            </a:solidFill>
            <a:prstDash val="solid"/>
          </a:ln>
        </p:spPr>
      </p:sp>
      <p:sp>
        <p:nvSpPr>
          <p:cNvPr id="8" name="Text 6"/>
          <p:cNvSpPr/>
          <p:nvPr/>
        </p:nvSpPr>
        <p:spPr>
          <a:xfrm>
            <a:off x="804672" y="2221992"/>
            <a:ext cx="3657600" cy="62179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Send personalised notifications and emails to boost engagement</a:t>
            </a:r>
            <a:endParaRPr lang="en-US" sz="1000" dirty="0"/>
          </a:p>
        </p:txBody>
      </p:sp>
      <p:sp>
        <p:nvSpPr>
          <p:cNvPr id="9" name="Shape 7"/>
          <p:cNvSpPr/>
          <p:nvPr/>
        </p:nvSpPr>
        <p:spPr>
          <a:xfrm>
            <a:off x="457200" y="2944368"/>
            <a:ext cx="256032" cy="256032"/>
          </a:xfrm>
          <a:prstGeom prst="ellipse">
            <a:avLst/>
          </a:prstGeom>
          <a:solidFill>
            <a:srgbClr val="F5A623"/>
          </a:solidFill>
          <a:ln w="12700">
            <a:solidFill>
              <a:srgbClr val="F5A623"/>
            </a:solidFill>
            <a:prstDash val="solid"/>
          </a:ln>
        </p:spPr>
      </p:sp>
      <p:sp>
        <p:nvSpPr>
          <p:cNvPr id="10" name="Text 8"/>
          <p:cNvSpPr/>
          <p:nvPr/>
        </p:nvSpPr>
        <p:spPr>
          <a:xfrm>
            <a:off x="804672" y="2907792"/>
            <a:ext cx="3657600" cy="62179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Make notifications catchy and non-intrusive so users engage positively</a:t>
            </a:r>
            <a:endParaRPr lang="en-US" sz="1000" dirty="0"/>
          </a:p>
        </p:txBody>
      </p:sp>
      <p:sp>
        <p:nvSpPr>
          <p:cNvPr id="11" name="Shape 9"/>
          <p:cNvSpPr/>
          <p:nvPr/>
        </p:nvSpPr>
        <p:spPr>
          <a:xfrm>
            <a:off x="457200" y="3630168"/>
            <a:ext cx="256032" cy="256032"/>
          </a:xfrm>
          <a:prstGeom prst="ellipse">
            <a:avLst/>
          </a:prstGeom>
          <a:solidFill>
            <a:srgbClr val="F5A623"/>
          </a:solidFill>
          <a:ln w="12700">
            <a:solidFill>
              <a:srgbClr val="F5A623"/>
            </a:solidFill>
            <a:prstDash val="solid"/>
          </a:ln>
        </p:spPr>
      </p:sp>
      <p:sp>
        <p:nvSpPr>
          <p:cNvPr id="12" name="Text 10"/>
          <p:cNvSpPr/>
          <p:nvPr/>
        </p:nvSpPr>
        <p:spPr>
          <a:xfrm>
            <a:off x="804672" y="3593592"/>
            <a:ext cx="3657600" cy="62179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Analyse underperforming ad campaigns and substitute them promptly</a:t>
            </a:r>
            <a:endParaRPr lang="en-US" sz="1000" dirty="0"/>
          </a:p>
        </p:txBody>
      </p:sp>
      <p:sp>
        <p:nvSpPr>
          <p:cNvPr id="13" name="Text 11"/>
          <p:cNvSpPr/>
          <p:nvPr/>
        </p:nvSpPr>
        <p:spPr>
          <a:xfrm>
            <a:off x="4846320" y="1143000"/>
            <a:ext cx="4114800" cy="320040"/>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Avg Engagement Rate per User (Top 10)</a:t>
            </a:r>
            <a:endParaRPr lang="en-US" sz="1300" dirty="0"/>
          </a:p>
        </p:txBody>
      </p:sp>
      <p:graphicFrame>
        <p:nvGraphicFramePr>
          <p:cNvPr id="14" name="Chart 0"/>
          <p:cNvGraphicFramePr/>
          <p:nvPr/>
        </p:nvGraphicFramePr>
        <p:xfrm>
          <a:off x="4663440" y="1508760"/>
          <a:ext cx="4297680" cy="3429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User Re-engagement Targeting</a:t>
            </a:r>
            <a:endParaRPr lang="en-US" sz="3000" dirty="0"/>
          </a:p>
        </p:txBody>
      </p:sp>
      <p:sp>
        <p:nvSpPr>
          <p:cNvPr id="4" name="Text 2"/>
          <p:cNvSpPr/>
          <p:nvPr/>
        </p:nvSpPr>
        <p:spPr>
          <a:xfrm>
            <a:off x="365760" y="1097280"/>
            <a:ext cx="420624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Segmenting Users by Activity</a:t>
            </a:r>
            <a:endParaRPr lang="en-US" sz="1300" dirty="0"/>
          </a:p>
        </p:txBody>
      </p:sp>
      <p:sp>
        <p:nvSpPr>
          <p:cNvPr id="5" name="Text 3"/>
          <p:cNvSpPr/>
          <p:nvPr/>
        </p:nvSpPr>
        <p:spPr>
          <a:xfrm>
            <a:off x="365760" y="1463040"/>
            <a:ext cx="4206240" cy="3383280"/>
          </a:xfrm>
          <a:prstGeom prst="rect">
            <a:avLst/>
          </a:prstGeom>
          <a:noFill/>
          <a:ln/>
        </p:spPr>
        <p:txBody>
          <a:bodyPr wrap="square" rtlCol="0" anchor="ctr"/>
          <a:lstStyle/>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Classified all 100 users by total activity (posts + likes given + comments given)</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13 users are fully Dormant (zero activity) — the clearest win-back target</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12 more sit in the bottom quartile of active users (At Risk)</a:t>
            </a:r>
            <a:endParaRPr lang="en-US" sz="1100" dirty="0"/>
          </a:p>
          <a:p>
            <a:pPr marL="342900" indent="-342900">
              <a:spcAft>
                <a:spcPts val="400"/>
              </a:spcAft>
              <a:buSzPct val="100000"/>
              <a:buChar char="•"/>
            </a:pPr>
            <a:r>
              <a:rPr lang="en-US" sz="1100" dirty="0">
                <a:solidFill>
                  <a:srgbClr val="1A1A2E"/>
                </a:solidFill>
                <a:latin typeface="Calibri" pitchFamily="34" charset="0"/>
                <a:ea typeface="Calibri" pitchFamily="34" charset="-122"/>
                <a:cs typeface="Calibri" pitchFamily="34" charset="-120"/>
              </a:rPr>
              <a:t>Together, 25 users form a ready-made, data-backed segment for the re-engagement campaigns proposed earlier</a:t>
            </a:r>
            <a:endParaRPr lang="en-US" sz="1100" dirty="0"/>
          </a:p>
        </p:txBody>
      </p:sp>
      <p:sp>
        <p:nvSpPr>
          <p:cNvPr id="6" name="Text 4"/>
          <p:cNvSpPr/>
          <p:nvPr/>
        </p:nvSpPr>
        <p:spPr>
          <a:xfrm>
            <a:off x="4846320" y="1097280"/>
            <a:ext cx="3931920" cy="320040"/>
          </a:xfrm>
          <a:prstGeom prst="rect">
            <a:avLst/>
          </a:prstGeom>
          <a:noFill/>
          <a:ln/>
        </p:spPr>
        <p:txBody>
          <a:bodyPr wrap="square" rtlCol="0" anchor="ctr"/>
          <a:lstStyle/>
          <a:p>
            <a:pPr marL="0" indent="0">
              <a:buNone/>
            </a:pPr>
            <a:r>
              <a:rPr lang="en-US" sz="1300" b="1" dirty="0">
                <a:solidFill>
                  <a:srgbClr val="1A3A6B"/>
                </a:solidFill>
                <a:latin typeface="Calibri" pitchFamily="34" charset="0"/>
                <a:ea typeface="Calibri" pitchFamily="34" charset="-122"/>
                <a:cs typeface="Calibri" pitchFamily="34" charset="-120"/>
              </a:rPr>
              <a:t>Active / At Risk / Dormant Users</a:t>
            </a:r>
            <a:endParaRPr lang="en-US" sz="1300" dirty="0"/>
          </a:p>
        </p:txBody>
      </p:sp>
      <p:pic>
        <p:nvPicPr>
          <p:cNvPr id="7" name="Picture 0"/>
          <p:cNvPicPr>
            <a:picLocks noChangeAspect="1"/>
          </p:cNvPicPr>
          <p:nvPr/>
        </p:nvPicPr>
        <p:blipFill>
          <a:blip r:embed="rId2"/>
          <a:stretch>
            <a:fillRect/>
          </a:stretch>
        </p:blipFill>
        <p:spPr>
          <a:xfrm>
            <a:off x="4750000" y="1600000"/>
            <a:ext cx="3900000" cy="22022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6B"/>
          </a:solidFill>
          <a:ln w="12700">
            <a:solidFill>
              <a:srgbClr val="1A3A6B"/>
            </a:solidFill>
            <a:prstDash val="solid"/>
          </a:ln>
        </p:spPr>
      </p:sp>
      <p:sp>
        <p:nvSpPr>
          <p:cNvPr id="3" name="Text 1"/>
          <p:cNvSpPr/>
          <p:nvPr/>
        </p:nvSpPr>
        <p:spPr>
          <a:xfrm>
            <a:off x="457200" y="0"/>
            <a:ext cx="8229600" cy="10058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365760" y="1143000"/>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5" name="Text 3"/>
          <p:cNvSpPr/>
          <p:nvPr/>
        </p:nvSpPr>
        <p:spPr>
          <a:xfrm>
            <a:off x="457200" y="1216152"/>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1115568" y="1216152"/>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3-Tier User Segmentation</a:t>
            </a:r>
            <a:endParaRPr lang="en-US" sz="1200" dirty="0"/>
          </a:p>
        </p:txBody>
      </p:sp>
      <p:sp>
        <p:nvSpPr>
          <p:cNvPr id="7" name="Text 5"/>
          <p:cNvSpPr/>
          <p:nvPr/>
        </p:nvSpPr>
        <p:spPr>
          <a:xfrm>
            <a:off x="1115568" y="1527048"/>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Users divided into Highly Engaged (43), Moderately Engaged (34), and Less Engaged (23). Focus on re-engaging the less active cohort.</a:t>
            </a:r>
            <a:endParaRPr lang="en-US" sz="950" dirty="0"/>
          </a:p>
        </p:txBody>
      </p:sp>
      <p:sp>
        <p:nvSpPr>
          <p:cNvPr id="8" name="Shape 6"/>
          <p:cNvSpPr/>
          <p:nvPr/>
        </p:nvSpPr>
        <p:spPr>
          <a:xfrm>
            <a:off x="4846320" y="1143000"/>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9" name="Text 7"/>
          <p:cNvSpPr/>
          <p:nvPr/>
        </p:nvSpPr>
        <p:spPr>
          <a:xfrm>
            <a:off x="4937760" y="1216152"/>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5596128" y="1216152"/>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Hashtags Drive Discovery</a:t>
            </a:r>
            <a:endParaRPr lang="en-US" sz="1200" dirty="0"/>
          </a:p>
        </p:txBody>
      </p:sp>
      <p:sp>
        <p:nvSpPr>
          <p:cNvPr id="11" name="Text 9"/>
          <p:cNvSpPr/>
          <p:nvPr/>
        </p:nvSpPr>
        <p:spPr>
          <a:xfrm>
            <a:off x="5596128" y="1527048"/>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'Dreamy' leads avg likes (35.75); 'smile', 'beach', 'party' dominate by volume. Monitor and leverage trending tags.</a:t>
            </a:r>
            <a:endParaRPr lang="en-US" sz="950" dirty="0"/>
          </a:p>
        </p:txBody>
      </p:sp>
      <p:sp>
        <p:nvSpPr>
          <p:cNvPr id="12" name="Shape 10"/>
          <p:cNvSpPr/>
          <p:nvPr/>
        </p:nvSpPr>
        <p:spPr>
          <a:xfrm>
            <a:off x="365760" y="2441448"/>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13" name="Text 11"/>
          <p:cNvSpPr/>
          <p:nvPr/>
        </p:nvSpPr>
        <p:spPr>
          <a:xfrm>
            <a:off x="457200" y="2514600"/>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1115568" y="2514600"/>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Reels Are the Future</a:t>
            </a:r>
            <a:endParaRPr lang="en-US" sz="1200" dirty="0"/>
          </a:p>
        </p:txBody>
      </p:sp>
      <p:sp>
        <p:nvSpPr>
          <p:cNvPr id="15" name="Text 13"/>
          <p:cNvSpPr/>
          <p:nvPr/>
        </p:nvSpPr>
        <p:spPr>
          <a:xfrm>
            <a:off x="1115568" y="2825496"/>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Short-form video is increasingly preferred by new users. Encourage influencers to create Reels tied to top hashtags.</a:t>
            </a:r>
            <a:endParaRPr lang="en-US" sz="950" dirty="0"/>
          </a:p>
        </p:txBody>
      </p:sp>
      <p:sp>
        <p:nvSpPr>
          <p:cNvPr id="16" name="Shape 14"/>
          <p:cNvSpPr/>
          <p:nvPr/>
        </p:nvSpPr>
        <p:spPr>
          <a:xfrm>
            <a:off x="4846320" y="2441448"/>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17" name="Text 15"/>
          <p:cNvSpPr/>
          <p:nvPr/>
        </p:nvSpPr>
        <p:spPr>
          <a:xfrm>
            <a:off x="4937760" y="2514600"/>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5596128" y="2514600"/>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Targeted Notifications Work</a:t>
            </a:r>
            <a:endParaRPr lang="en-US" sz="1200" dirty="0"/>
          </a:p>
        </p:txBody>
      </p:sp>
      <p:sp>
        <p:nvSpPr>
          <p:cNvPr id="19" name="Text 17"/>
          <p:cNvSpPr/>
          <p:nvPr/>
        </p:nvSpPr>
        <p:spPr>
          <a:xfrm>
            <a:off x="5596128" y="2825496"/>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Personalised, catchy notification campaigns (email + push) are key to improving retention and engagement rates.</a:t>
            </a:r>
            <a:endParaRPr lang="en-US" sz="950" dirty="0"/>
          </a:p>
        </p:txBody>
      </p:sp>
      <p:sp>
        <p:nvSpPr>
          <p:cNvPr id="20" name="Shape 18"/>
          <p:cNvSpPr/>
          <p:nvPr/>
        </p:nvSpPr>
        <p:spPr>
          <a:xfrm>
            <a:off x="365760" y="3739896"/>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21" name="Text 19"/>
          <p:cNvSpPr/>
          <p:nvPr/>
        </p:nvSpPr>
        <p:spPr>
          <a:xfrm>
            <a:off x="457200" y="381304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1115568" y="3813048"/>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Influencer &amp; Ambassador Program</a:t>
            </a:r>
            <a:endParaRPr lang="en-US" sz="1200" dirty="0"/>
          </a:p>
        </p:txBody>
      </p:sp>
      <p:sp>
        <p:nvSpPr>
          <p:cNvPr id="23" name="Text 21"/>
          <p:cNvSpPr/>
          <p:nvPr/>
        </p:nvSpPr>
        <p:spPr>
          <a:xfrm>
            <a:off x="1115568" y="4123944"/>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26 users qualify as Top Ambassador Candidates (engagement &gt;150, followers &gt;76). Activate them for paid collabs.</a:t>
            </a:r>
            <a:endParaRPr lang="en-US" sz="950" dirty="0"/>
          </a:p>
        </p:txBody>
      </p:sp>
      <p:sp>
        <p:nvSpPr>
          <p:cNvPr id="24" name="Shape 22"/>
          <p:cNvSpPr/>
          <p:nvPr/>
        </p:nvSpPr>
        <p:spPr>
          <a:xfrm>
            <a:off x="4846320" y="3739896"/>
            <a:ext cx="4206240" cy="1170432"/>
          </a:xfrm>
          <a:prstGeom prst="roundRect">
            <a:avLst>
              <a:gd name="adj" fmla="val 7813"/>
            </a:avLst>
          </a:prstGeom>
          <a:solidFill>
            <a:srgbClr val="F4F7FF"/>
          </a:solidFill>
          <a:ln/>
          <a:effectLst>
            <a:outerShdw blurRad="101600" dist="38100" dir="2700000" algn="bl" rotWithShape="0">
              <a:srgbClr val="000000">
                <a:alpha val="12000"/>
              </a:srgbClr>
            </a:outerShdw>
          </a:effectLst>
        </p:spPr>
      </p:sp>
      <p:sp>
        <p:nvSpPr>
          <p:cNvPr id="25" name="Text 23"/>
          <p:cNvSpPr/>
          <p:nvPr/>
        </p:nvSpPr>
        <p:spPr>
          <a:xfrm>
            <a:off x="4937760" y="3813048"/>
            <a:ext cx="594360" cy="59436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5596128" y="3813048"/>
            <a:ext cx="3337560" cy="301752"/>
          </a:xfrm>
          <a:prstGeom prst="rect">
            <a:avLst/>
          </a:prstGeom>
          <a:noFill/>
          <a:ln/>
        </p:spPr>
        <p:txBody>
          <a:bodyPr wrap="square" rtlCol="0" anchor="ctr"/>
          <a:lstStyle/>
          <a:p>
            <a:pPr marL="0" indent="0">
              <a:buNone/>
            </a:pPr>
            <a:r>
              <a:rPr lang="en-US" sz="1200" b="1" dirty="0">
                <a:solidFill>
                  <a:srgbClr val="1A3A6B"/>
                </a:solidFill>
                <a:latin typeface="Calibri" pitchFamily="34" charset="0"/>
                <a:ea typeface="Calibri" pitchFamily="34" charset="-122"/>
                <a:cs typeface="Calibri" pitchFamily="34" charset="-120"/>
              </a:rPr>
              <a:t>Continuous Optimisation</a:t>
            </a:r>
            <a:endParaRPr lang="en-US" sz="1200" dirty="0"/>
          </a:p>
        </p:txBody>
      </p:sp>
      <p:sp>
        <p:nvSpPr>
          <p:cNvPr id="27" name="Text 25"/>
          <p:cNvSpPr/>
          <p:nvPr/>
        </p:nvSpPr>
        <p:spPr>
          <a:xfrm>
            <a:off x="5596128" y="4123944"/>
            <a:ext cx="3337560" cy="694944"/>
          </a:xfrm>
          <a:prstGeom prst="rect">
            <a:avLst/>
          </a:prstGeom>
          <a:noFill/>
          <a:ln/>
        </p:spPr>
        <p:txBody>
          <a:bodyPr wrap="square" rtlCol="0" anchor="ctr"/>
          <a:lstStyle/>
          <a:p>
            <a:pPr marL="0" indent="0">
              <a:buNone/>
            </a:pPr>
            <a:r>
              <a:rPr lang="en-US" sz="950" dirty="0">
                <a:solidFill>
                  <a:srgbClr val="5A6A8A"/>
                </a:solidFill>
                <a:latin typeface="Calibri" pitchFamily="34" charset="0"/>
                <a:ea typeface="Calibri" pitchFamily="34" charset="-122"/>
                <a:cs typeface="Calibri" pitchFamily="34" charset="-120"/>
              </a:rPr>
              <a:t>Regularly audit ad campaigns for CTR, conversion, and ROAS. Replace underperformers and align with trending topics.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1A3A6B"/>
        </a:solidFill>
        <a:effectLst/>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1A6B55"/>
          </a:solidFill>
          <a:ln w="12700">
            <a:solidFill>
              <a:srgbClr val="1A6B55"/>
            </a:solidFill>
            <a:prstDash val="solid"/>
          </a:ln>
        </p:spPr>
      </p:sp>
      <p:sp>
        <p:nvSpPr>
          <p:cNvPr id="4" name="Text 2"/>
          <p:cNvSpPr/>
          <p:nvPr/>
        </p:nvSpPr>
        <p:spPr>
          <a:xfrm>
            <a:off x="457200" y="822960"/>
            <a:ext cx="2286000" cy="2286000"/>
          </a:xfrm>
          <a:prstGeom prst="rect">
            <a:avLst/>
          </a:prstGeom>
          <a:noFill/>
          <a:ln/>
        </p:spPr>
        <p:txBody>
          <a:bodyPr wrap="square" rtlCol="0" anchor="ctr"/>
          <a:lstStyle/>
          <a:p>
            <a:pPr marL="0" indent="0" algn="ctr">
              <a:buNone/>
            </a:pPr>
            <a:r>
              <a:rPr lang="en-US" sz="9600" b="1" dirty="0">
                <a:solidFill>
                  <a:srgbClr val="FFFFFF"/>
                </a:solidFill>
                <a:latin typeface="Arial" pitchFamily="34" charset="0"/>
                <a:ea typeface="Arial" pitchFamily="34" charset="-122"/>
                <a:cs typeface="Arial" pitchFamily="34" charset="-120"/>
              </a:rPr>
              <a:t>ig</a:t>
            </a:r>
            <a:endParaRPr lang="en-US" sz="9600" dirty="0"/>
          </a:p>
        </p:txBody>
      </p:sp>
      <p:sp>
        <p:nvSpPr>
          <p:cNvPr id="5" name="Text 3"/>
          <p:cNvSpPr/>
          <p:nvPr/>
        </p:nvSpPr>
        <p:spPr>
          <a:xfrm>
            <a:off x="182880" y="3291840"/>
            <a:ext cx="3200400" cy="1280160"/>
          </a:xfrm>
          <a:prstGeom prst="rect">
            <a:avLst/>
          </a:prstGeom>
          <a:noFill/>
          <a:ln/>
        </p:spPr>
        <p:txBody>
          <a:bodyPr wrap="square" rtlCol="0" anchor="ctr"/>
          <a:lstStyle/>
          <a:p>
            <a:pPr marL="0" indent="0" algn="ctr">
              <a:buNone/>
            </a:pPr>
            <a:r>
              <a:rPr lang="en-US" sz="1600" b="1" dirty="0">
                <a:solidFill>
                  <a:srgbClr val="A8D8C8"/>
                </a:solidFill>
                <a:latin typeface="Calibri" pitchFamily="34" charset="0"/>
                <a:ea typeface="Calibri" pitchFamily="34" charset="-122"/>
                <a:cs typeface="Calibri" pitchFamily="34" charset="-120"/>
              </a:rPr>
              <a:t>Instagram Clone</a:t>
            </a:r>
            <a:endParaRPr lang="en-US" sz="1600" dirty="0"/>
          </a:p>
          <a:p>
            <a:pPr marL="0" indent="0" algn="ctr">
              <a:buNone/>
            </a:pPr>
            <a:r>
              <a:rPr lang="en-US" sz="1600" b="1" dirty="0">
                <a:solidFill>
                  <a:srgbClr val="A8D8C8"/>
                </a:solidFill>
                <a:latin typeface="Calibri" pitchFamily="34" charset="0"/>
                <a:ea typeface="Calibri" pitchFamily="34" charset="-122"/>
                <a:cs typeface="Calibri" pitchFamily="34" charset="-120"/>
              </a:rPr>
              <a:t>SQL Project</a:t>
            </a:r>
            <a:endParaRPr lang="en-US" sz="1600" dirty="0"/>
          </a:p>
        </p:txBody>
      </p:sp>
      <p:sp>
        <p:nvSpPr>
          <p:cNvPr id="6" name="Text 4"/>
          <p:cNvSpPr/>
          <p:nvPr/>
        </p:nvSpPr>
        <p:spPr>
          <a:xfrm>
            <a:off x="3840480" y="1097280"/>
            <a:ext cx="5029200" cy="1005840"/>
          </a:xfrm>
          <a:prstGeom prst="rect">
            <a:avLst/>
          </a:prstGeom>
          <a:noFill/>
          <a:ln/>
        </p:spPr>
        <p:txBody>
          <a:bodyPr wrap="square" rtlCol="0" anchor="ctr"/>
          <a:lstStyle/>
          <a:p>
            <a:pPr marL="0" indent="0" algn="ctr">
              <a:buNone/>
            </a:pPr>
            <a:r>
              <a:rPr lang="en-US" sz="6200" b="1" dirty="0">
                <a:solidFill>
                  <a:srgbClr val="FFFFFF"/>
                </a:solidFill>
                <a:latin typeface="Cambria" pitchFamily="34" charset="0"/>
                <a:ea typeface="Cambria" pitchFamily="34" charset="-122"/>
                <a:cs typeface="Cambria" pitchFamily="34" charset="-120"/>
              </a:rPr>
              <a:t>THANK</a:t>
            </a:r>
            <a:endParaRPr lang="en-US" sz="6200" dirty="0"/>
          </a:p>
        </p:txBody>
      </p:sp>
      <p:sp>
        <p:nvSpPr>
          <p:cNvPr id="7" name="Text 5"/>
          <p:cNvSpPr/>
          <p:nvPr/>
        </p:nvSpPr>
        <p:spPr>
          <a:xfrm>
            <a:off x="3840480" y="2103120"/>
            <a:ext cx="5029200" cy="1005840"/>
          </a:xfrm>
          <a:prstGeom prst="rect">
            <a:avLst/>
          </a:prstGeom>
          <a:noFill/>
          <a:ln/>
        </p:spPr>
        <p:txBody>
          <a:bodyPr wrap="square" rtlCol="0" anchor="ctr"/>
          <a:lstStyle/>
          <a:p>
            <a:pPr marL="0" indent="0" algn="ctr">
              <a:buNone/>
            </a:pPr>
            <a:r>
              <a:rPr lang="en-US" sz="6200" b="1" dirty="0">
                <a:solidFill>
                  <a:srgbClr val="FFFFFF"/>
                </a:solidFill>
                <a:latin typeface="Cambria" pitchFamily="34" charset="0"/>
                <a:ea typeface="Cambria" pitchFamily="34" charset="-122"/>
                <a:cs typeface="Cambria" pitchFamily="34" charset="-120"/>
              </a:rPr>
              <a:t>YOU!</a:t>
            </a:r>
            <a:endParaRPr lang="en-US" sz="6200" dirty="0"/>
          </a:p>
        </p:txBody>
      </p:sp>
      <p:sp>
        <p:nvSpPr>
          <p:cNvPr id="8" name="Text 6"/>
          <p:cNvSpPr/>
          <p:nvPr/>
        </p:nvSpPr>
        <p:spPr>
          <a:xfrm>
            <a:off x="3840480" y="3474720"/>
            <a:ext cx="5029200" cy="457200"/>
          </a:xfrm>
          <a:prstGeom prst="rect">
            <a:avLst/>
          </a:prstGeom>
          <a:noFill/>
          <a:ln/>
        </p:spPr>
        <p:txBody>
          <a:bodyPr wrap="square" rtlCol="0" anchor="ctr"/>
          <a:lstStyle/>
          <a:p>
            <a:pPr marL="0" indent="0" algn="ctr">
              <a:buNone/>
            </a:pPr>
            <a:r>
              <a:rPr lang="en-US" sz="1100" dirty="0">
                <a:solidFill>
                  <a:srgbClr val="FFD5B5"/>
                </a:solidFill>
                <a:latin typeface="Calibri" pitchFamily="34" charset="0"/>
                <a:ea typeface="Calibri" pitchFamily="34" charset="-122"/>
                <a:cs typeface="Calibri" pitchFamily="34" charset="-120"/>
              </a:rPr>
              <a:t>Data Analyst · Instagram Clone Project · DS </a:t>
            </a:r>
            <a:r>
              <a:rPr lang="en-US" sz="1100" dirty="0" smtClean="0">
                <a:solidFill>
                  <a:srgbClr val="FFD5B5"/>
                </a:solidFill>
                <a:latin typeface="Calibri" pitchFamily="34" charset="0"/>
                <a:ea typeface="Calibri" pitchFamily="34" charset="-122"/>
                <a:cs typeface="Calibri" pitchFamily="34" charset="-120"/>
              </a:rPr>
              <a:t>JUNE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1156</Words>
  <Application>Microsoft Office PowerPoint</Application>
  <PresentationFormat>On-screen Show (16:9)</PresentationFormat>
  <Paragraphs>218</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Database schema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Instagram Clone SQL Project</dc:title>
  <dc:subject>PptxGenJS Presentation</dc:subject>
  <dc:creator>PptxGenJS</dc:creator>
  <cp:lastModifiedBy>HP</cp:lastModifiedBy>
  <cp:revision>6</cp:revision>
  <dcterms:created xsi:type="dcterms:W3CDTF">2026-06-24T19:09:50Z</dcterms:created>
  <dcterms:modified xsi:type="dcterms:W3CDTF">2026-07-19T16:54:23Z</dcterms:modified>
</cp:coreProperties>
</file>